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4"/>
  </p:notesMasterIdLst>
  <p:sldIdLst>
    <p:sldId id="256" r:id="rId2"/>
    <p:sldId id="262" r:id="rId3"/>
    <p:sldId id="263" r:id="rId4"/>
    <p:sldId id="292" r:id="rId5"/>
    <p:sldId id="258" r:id="rId6"/>
    <p:sldId id="289" r:id="rId7"/>
    <p:sldId id="260" r:id="rId8"/>
    <p:sldId id="261" r:id="rId9"/>
    <p:sldId id="264" r:id="rId10"/>
    <p:sldId id="265" r:id="rId11"/>
    <p:sldId id="266" r:id="rId12"/>
    <p:sldId id="294" r:id="rId13"/>
    <p:sldId id="295" r:id="rId14"/>
    <p:sldId id="267" r:id="rId15"/>
    <p:sldId id="296" r:id="rId16"/>
    <p:sldId id="306" r:id="rId17"/>
    <p:sldId id="269" r:id="rId18"/>
    <p:sldId id="298" r:id="rId19"/>
    <p:sldId id="299" r:id="rId20"/>
    <p:sldId id="300" r:id="rId21"/>
    <p:sldId id="270" r:id="rId22"/>
    <p:sldId id="301" r:id="rId23"/>
    <p:sldId id="271" r:id="rId24"/>
    <p:sldId id="272" r:id="rId25"/>
    <p:sldId id="274" r:id="rId26"/>
    <p:sldId id="275" r:id="rId27"/>
    <p:sldId id="276" r:id="rId28"/>
    <p:sldId id="302" r:id="rId29"/>
    <p:sldId id="277" r:id="rId30"/>
    <p:sldId id="278" r:id="rId31"/>
    <p:sldId id="279" r:id="rId32"/>
    <p:sldId id="303" r:id="rId33"/>
    <p:sldId id="280" r:id="rId34"/>
    <p:sldId id="282" r:id="rId35"/>
    <p:sldId id="304" r:id="rId36"/>
    <p:sldId id="281" r:id="rId37"/>
    <p:sldId id="283" r:id="rId38"/>
    <p:sldId id="284" r:id="rId39"/>
    <p:sldId id="305" r:id="rId40"/>
    <p:sldId id="285" r:id="rId41"/>
    <p:sldId id="286" r:id="rId42"/>
    <p:sldId id="287" r:id="rId43"/>
  </p:sldIdLst>
  <p:sldSz cx="6858000" cy="12192000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4660"/>
  </p:normalViewPr>
  <p:slideViewPr>
    <p:cSldViewPr snapToGrid="0">
      <p:cViewPr varScale="1">
        <p:scale>
          <a:sx n="47" d="100"/>
          <a:sy n="47" d="100"/>
        </p:scale>
        <p:origin x="26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42D5B9-F502-413F-90AA-EE9EDA31D4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0E55168-C09E-442D-AF16-EF0C640E8598}">
      <dgm:prSet/>
      <dgm:spPr/>
      <dgm:t>
        <a:bodyPr/>
        <a:lstStyle/>
        <a:p>
          <a:pPr>
            <a:defRPr b="1"/>
          </a:pPr>
          <a:r>
            <a:rPr lang="en-GB"/>
            <a:t>Blurting </a:t>
          </a:r>
          <a:endParaRPr lang="en-US"/>
        </a:p>
      </dgm:t>
    </dgm:pt>
    <dgm:pt modelId="{75876CA4-12EC-4D95-BCB0-6D1ABB412B0D}" type="parTrans" cxnId="{08D7D01C-09BC-4C41-AC98-F53FDF5E02DA}">
      <dgm:prSet/>
      <dgm:spPr/>
      <dgm:t>
        <a:bodyPr/>
        <a:lstStyle/>
        <a:p>
          <a:endParaRPr lang="en-US"/>
        </a:p>
      </dgm:t>
    </dgm:pt>
    <dgm:pt modelId="{C1F949F8-6B77-4DDE-A979-2E66F27384C9}" type="sibTrans" cxnId="{08D7D01C-09BC-4C41-AC98-F53FDF5E02DA}">
      <dgm:prSet/>
      <dgm:spPr/>
      <dgm:t>
        <a:bodyPr/>
        <a:lstStyle/>
        <a:p>
          <a:endParaRPr lang="en-US"/>
        </a:p>
      </dgm:t>
    </dgm:pt>
    <dgm:pt modelId="{5FB77799-CD68-403F-8EA6-E0D2E632BBC7}">
      <dgm:prSet/>
      <dgm:spPr/>
      <dgm:t>
        <a:bodyPr/>
        <a:lstStyle/>
        <a:p>
          <a:r>
            <a:rPr lang="en-GB"/>
            <a:t>Write down everything you remember about a topic</a:t>
          </a:r>
          <a:endParaRPr lang="en-US"/>
        </a:p>
      </dgm:t>
    </dgm:pt>
    <dgm:pt modelId="{0E7C3F51-B2BE-45DC-81A9-B21D32B3CAC2}" type="parTrans" cxnId="{F7FB2333-A5E7-444B-ABAE-4D34AB755CD8}">
      <dgm:prSet/>
      <dgm:spPr/>
      <dgm:t>
        <a:bodyPr/>
        <a:lstStyle/>
        <a:p>
          <a:endParaRPr lang="en-US"/>
        </a:p>
      </dgm:t>
    </dgm:pt>
    <dgm:pt modelId="{F4E40261-C5BE-43D6-A38F-6F02F0865E26}" type="sibTrans" cxnId="{F7FB2333-A5E7-444B-ABAE-4D34AB755CD8}">
      <dgm:prSet/>
      <dgm:spPr/>
      <dgm:t>
        <a:bodyPr/>
        <a:lstStyle/>
        <a:p>
          <a:endParaRPr lang="en-US"/>
        </a:p>
      </dgm:t>
    </dgm:pt>
    <dgm:pt modelId="{93962859-E271-48E0-A594-E00CECBAB323}">
      <dgm:prSet/>
      <dgm:spPr/>
      <dgm:t>
        <a:bodyPr/>
        <a:lstStyle/>
        <a:p>
          <a:r>
            <a:rPr lang="en-GB"/>
            <a:t>Check the Revision PowerPoints on the classroom</a:t>
          </a:r>
          <a:endParaRPr lang="en-US"/>
        </a:p>
      </dgm:t>
    </dgm:pt>
    <dgm:pt modelId="{389FE78E-A9BC-461B-A3C3-42E867A5B3E9}" type="parTrans" cxnId="{75C65DDD-8E19-49B7-B0F4-A7DC163B9621}">
      <dgm:prSet/>
      <dgm:spPr/>
      <dgm:t>
        <a:bodyPr/>
        <a:lstStyle/>
        <a:p>
          <a:endParaRPr lang="en-US"/>
        </a:p>
      </dgm:t>
    </dgm:pt>
    <dgm:pt modelId="{64AD7789-0F25-4B98-A052-E5E21B095D74}" type="sibTrans" cxnId="{75C65DDD-8E19-49B7-B0F4-A7DC163B9621}">
      <dgm:prSet/>
      <dgm:spPr/>
      <dgm:t>
        <a:bodyPr/>
        <a:lstStyle/>
        <a:p>
          <a:endParaRPr lang="en-US"/>
        </a:p>
      </dgm:t>
    </dgm:pt>
    <dgm:pt modelId="{94E2AD92-4CD8-40F1-AB19-99033C219B4F}">
      <dgm:prSet/>
      <dgm:spPr/>
      <dgm:t>
        <a:bodyPr/>
        <a:lstStyle/>
        <a:p>
          <a:r>
            <a:rPr lang="en-GB"/>
            <a:t>Add/correct your blurt without looking at the information</a:t>
          </a:r>
          <a:endParaRPr lang="en-US"/>
        </a:p>
      </dgm:t>
    </dgm:pt>
    <dgm:pt modelId="{2EF9280C-BA6C-4324-B9C4-67E895FDD90F}" type="parTrans" cxnId="{E8810DE7-D480-471D-A3E2-0F0114CA2283}">
      <dgm:prSet/>
      <dgm:spPr/>
      <dgm:t>
        <a:bodyPr/>
        <a:lstStyle/>
        <a:p>
          <a:endParaRPr lang="en-US"/>
        </a:p>
      </dgm:t>
    </dgm:pt>
    <dgm:pt modelId="{9A7D9CC9-0B07-438B-92EF-919F3351F46E}" type="sibTrans" cxnId="{E8810DE7-D480-471D-A3E2-0F0114CA2283}">
      <dgm:prSet/>
      <dgm:spPr/>
      <dgm:t>
        <a:bodyPr/>
        <a:lstStyle/>
        <a:p>
          <a:endParaRPr lang="en-US"/>
        </a:p>
      </dgm:t>
    </dgm:pt>
    <dgm:pt modelId="{AC3AE08F-193B-4FF2-99CB-96102B59B86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pPr>
            <a:defRPr b="1"/>
          </a:pPr>
          <a:r>
            <a:rPr lang="en-GB" dirty="0"/>
            <a:t>Look, cover, check</a:t>
          </a:r>
          <a:endParaRPr lang="en-US" dirty="0"/>
        </a:p>
      </dgm:t>
    </dgm:pt>
    <dgm:pt modelId="{2B20ADDC-5CFD-4F5F-AF1B-E68730861E5C}" type="parTrans" cxnId="{3A468D66-8407-4491-BDEF-1E09F3E775B8}">
      <dgm:prSet/>
      <dgm:spPr/>
      <dgm:t>
        <a:bodyPr/>
        <a:lstStyle/>
        <a:p>
          <a:endParaRPr lang="en-US"/>
        </a:p>
      </dgm:t>
    </dgm:pt>
    <dgm:pt modelId="{4C222B5F-6AE4-4F3D-9934-7A5F60FBDC65}" type="sibTrans" cxnId="{3A468D66-8407-4491-BDEF-1E09F3E775B8}">
      <dgm:prSet/>
      <dgm:spPr/>
      <dgm:t>
        <a:bodyPr/>
        <a:lstStyle/>
        <a:p>
          <a:endParaRPr lang="en-US"/>
        </a:p>
      </dgm:t>
    </dgm:pt>
    <dgm:pt modelId="{02B3075E-7823-4895-8247-24C362A28002}">
      <dgm:prSet/>
      <dgm:spPr/>
      <dgm:t>
        <a:bodyPr/>
        <a:lstStyle/>
        <a:p>
          <a:r>
            <a:rPr lang="en-GB"/>
            <a:t>For trickier topics, look at the Revision PowerPoint first, then blurt and check</a:t>
          </a:r>
          <a:endParaRPr lang="en-US"/>
        </a:p>
      </dgm:t>
    </dgm:pt>
    <dgm:pt modelId="{AFE36F2C-D465-4136-814E-CCC9DA564370}" type="parTrans" cxnId="{EAAF5013-9900-42E3-941A-C401C4651DA2}">
      <dgm:prSet/>
      <dgm:spPr/>
      <dgm:t>
        <a:bodyPr/>
        <a:lstStyle/>
        <a:p>
          <a:endParaRPr lang="en-US"/>
        </a:p>
      </dgm:t>
    </dgm:pt>
    <dgm:pt modelId="{CD4AEA71-CAB6-47D8-BDCF-B9E000F5DA4D}" type="sibTrans" cxnId="{EAAF5013-9900-42E3-941A-C401C4651DA2}">
      <dgm:prSet/>
      <dgm:spPr/>
      <dgm:t>
        <a:bodyPr/>
        <a:lstStyle/>
        <a:p>
          <a:endParaRPr lang="en-US"/>
        </a:p>
      </dgm:t>
    </dgm:pt>
    <dgm:pt modelId="{06C98FC5-11E2-4D3B-8D49-B1FA67821E0D}">
      <dgm:prSet/>
      <dgm:spPr/>
      <dgm:t>
        <a:bodyPr/>
        <a:lstStyle/>
        <a:p>
          <a:pPr>
            <a:defRPr b="1"/>
          </a:pPr>
          <a:r>
            <a:rPr lang="en-GB"/>
            <a:t>Dual coding</a:t>
          </a:r>
          <a:endParaRPr lang="en-US"/>
        </a:p>
      </dgm:t>
    </dgm:pt>
    <dgm:pt modelId="{FEB6071A-D57B-4319-A72F-C4EF26A04DC7}" type="parTrans" cxnId="{5FDCF889-7BD0-46C6-A1EF-CB55F71BE948}">
      <dgm:prSet/>
      <dgm:spPr/>
      <dgm:t>
        <a:bodyPr/>
        <a:lstStyle/>
        <a:p>
          <a:endParaRPr lang="en-US"/>
        </a:p>
      </dgm:t>
    </dgm:pt>
    <dgm:pt modelId="{ADA8F335-8633-410E-944B-07DDD6901CAA}" type="sibTrans" cxnId="{5FDCF889-7BD0-46C6-A1EF-CB55F71BE948}">
      <dgm:prSet/>
      <dgm:spPr/>
      <dgm:t>
        <a:bodyPr/>
        <a:lstStyle/>
        <a:p>
          <a:endParaRPr lang="en-US"/>
        </a:p>
      </dgm:t>
    </dgm:pt>
    <dgm:pt modelId="{8DD71124-0919-48D9-8E4D-91401AFFCB77}">
      <dgm:prSet/>
      <dgm:spPr/>
      <dgm:t>
        <a:bodyPr/>
        <a:lstStyle/>
        <a:p>
          <a:r>
            <a:rPr lang="en-GB"/>
            <a:t>For topics with multiple stages e.g. protein synthesis or eutrophication, look at the Revision PowerPoint first then create a visual (diagram or cartoon strip) to show the stages</a:t>
          </a:r>
          <a:endParaRPr lang="en-US"/>
        </a:p>
      </dgm:t>
    </dgm:pt>
    <dgm:pt modelId="{FDE405D7-6721-47FB-94F5-4E606AC1F892}" type="parTrans" cxnId="{621DF812-3BD9-4E7F-8BFE-485CDC5F3FFD}">
      <dgm:prSet/>
      <dgm:spPr/>
      <dgm:t>
        <a:bodyPr/>
        <a:lstStyle/>
        <a:p>
          <a:endParaRPr lang="en-US"/>
        </a:p>
      </dgm:t>
    </dgm:pt>
    <dgm:pt modelId="{290A5DA7-B176-4BC0-AA6A-7A952820B87A}" type="sibTrans" cxnId="{621DF812-3BD9-4E7F-8BFE-485CDC5F3FFD}">
      <dgm:prSet/>
      <dgm:spPr/>
      <dgm:t>
        <a:bodyPr/>
        <a:lstStyle/>
        <a:p>
          <a:endParaRPr lang="en-US"/>
        </a:p>
      </dgm:t>
    </dgm:pt>
    <dgm:pt modelId="{3BACF8A7-959D-4B5D-80C7-096B7CFBA586}" type="pres">
      <dgm:prSet presAssocID="{B842D5B9-F502-413F-90AA-EE9EDA31D493}" presName="root" presStyleCnt="0">
        <dgm:presLayoutVars>
          <dgm:dir/>
          <dgm:resizeHandles val="exact"/>
        </dgm:presLayoutVars>
      </dgm:prSet>
      <dgm:spPr/>
    </dgm:pt>
    <dgm:pt modelId="{5FAD474E-25F8-49FE-8971-5708C40582DF}" type="pres">
      <dgm:prSet presAssocID="{B0E55168-C09E-442D-AF16-EF0C640E8598}" presName="compNode" presStyleCnt="0"/>
      <dgm:spPr/>
    </dgm:pt>
    <dgm:pt modelId="{A1347254-A949-4ADE-BC3E-EA32A43A05BF}" type="pres">
      <dgm:prSet presAssocID="{B0E55168-C09E-442D-AF16-EF0C640E859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4A10F564-D67B-451A-A3D4-5C466749DD36}" type="pres">
      <dgm:prSet presAssocID="{B0E55168-C09E-442D-AF16-EF0C640E8598}" presName="iconSpace" presStyleCnt="0"/>
      <dgm:spPr/>
    </dgm:pt>
    <dgm:pt modelId="{BE7FF781-FBA7-4FD0-B3C9-63B6D7AE24FC}" type="pres">
      <dgm:prSet presAssocID="{B0E55168-C09E-442D-AF16-EF0C640E8598}" presName="parTx" presStyleLbl="revTx" presStyleIdx="0" presStyleCnt="6">
        <dgm:presLayoutVars>
          <dgm:chMax val="0"/>
          <dgm:chPref val="0"/>
        </dgm:presLayoutVars>
      </dgm:prSet>
      <dgm:spPr/>
    </dgm:pt>
    <dgm:pt modelId="{A3C045F8-3657-49E1-8F58-F503147640E3}" type="pres">
      <dgm:prSet presAssocID="{B0E55168-C09E-442D-AF16-EF0C640E8598}" presName="txSpace" presStyleCnt="0"/>
      <dgm:spPr/>
    </dgm:pt>
    <dgm:pt modelId="{5524DCD7-4450-4091-A7CA-7DB67C3DDE0D}" type="pres">
      <dgm:prSet presAssocID="{B0E55168-C09E-442D-AF16-EF0C640E8598}" presName="desTx" presStyleLbl="revTx" presStyleIdx="1" presStyleCnt="6">
        <dgm:presLayoutVars/>
      </dgm:prSet>
      <dgm:spPr/>
    </dgm:pt>
    <dgm:pt modelId="{7B35A9C6-09B6-453D-8241-266D8C257D05}" type="pres">
      <dgm:prSet presAssocID="{C1F949F8-6B77-4DDE-A979-2E66F27384C9}" presName="sibTrans" presStyleCnt="0"/>
      <dgm:spPr/>
    </dgm:pt>
    <dgm:pt modelId="{1151C624-8503-4EC3-A9C9-84254289FC8F}" type="pres">
      <dgm:prSet presAssocID="{AC3AE08F-193B-4FF2-99CB-96102B59B86A}" presName="compNode" presStyleCnt="0"/>
      <dgm:spPr/>
    </dgm:pt>
    <dgm:pt modelId="{44594261-93D8-49DE-BB32-9EB46E28DD5E}" type="pres">
      <dgm:prSet presAssocID="{AC3AE08F-193B-4FF2-99CB-96102B59B86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E6244575-1D6F-48D4-B770-545081CF8577}" type="pres">
      <dgm:prSet presAssocID="{AC3AE08F-193B-4FF2-99CB-96102B59B86A}" presName="iconSpace" presStyleCnt="0"/>
      <dgm:spPr/>
    </dgm:pt>
    <dgm:pt modelId="{348CA227-FDCC-4A0B-B602-F667636627E6}" type="pres">
      <dgm:prSet presAssocID="{AC3AE08F-193B-4FF2-99CB-96102B59B86A}" presName="parTx" presStyleLbl="revTx" presStyleIdx="2" presStyleCnt="6">
        <dgm:presLayoutVars>
          <dgm:chMax val="0"/>
          <dgm:chPref val="0"/>
        </dgm:presLayoutVars>
      </dgm:prSet>
      <dgm:spPr/>
    </dgm:pt>
    <dgm:pt modelId="{148A3A05-09D7-40CF-B905-AB997487F3A8}" type="pres">
      <dgm:prSet presAssocID="{AC3AE08F-193B-4FF2-99CB-96102B59B86A}" presName="txSpace" presStyleCnt="0"/>
      <dgm:spPr/>
    </dgm:pt>
    <dgm:pt modelId="{F37723C6-8B17-45CF-8F73-0539B9CD9397}" type="pres">
      <dgm:prSet presAssocID="{AC3AE08F-193B-4FF2-99CB-96102B59B86A}" presName="desTx" presStyleLbl="revTx" presStyleIdx="3" presStyleCnt="6">
        <dgm:presLayoutVars/>
      </dgm:prSet>
      <dgm:spPr/>
    </dgm:pt>
    <dgm:pt modelId="{9BE5F16C-500E-46C1-A1BA-C0488FC98233}" type="pres">
      <dgm:prSet presAssocID="{4C222B5F-6AE4-4F3D-9934-7A5F60FBDC65}" presName="sibTrans" presStyleCnt="0"/>
      <dgm:spPr/>
    </dgm:pt>
    <dgm:pt modelId="{C1F0EB4E-B03C-490F-B99F-06B21BB76903}" type="pres">
      <dgm:prSet presAssocID="{06C98FC5-11E2-4D3B-8D49-B1FA67821E0D}" presName="compNode" presStyleCnt="0"/>
      <dgm:spPr/>
    </dgm:pt>
    <dgm:pt modelId="{C1304F72-2E15-48A0-B547-FCF183C3F7DC}" type="pres">
      <dgm:prSet presAssocID="{06C98FC5-11E2-4D3B-8D49-B1FA67821E0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B3710CF-A8D8-49C7-B598-C012F2ACDAB9}" type="pres">
      <dgm:prSet presAssocID="{06C98FC5-11E2-4D3B-8D49-B1FA67821E0D}" presName="iconSpace" presStyleCnt="0"/>
      <dgm:spPr/>
    </dgm:pt>
    <dgm:pt modelId="{2B3E4F4E-AE95-4774-9F55-52BECC0E3AE5}" type="pres">
      <dgm:prSet presAssocID="{06C98FC5-11E2-4D3B-8D49-B1FA67821E0D}" presName="parTx" presStyleLbl="revTx" presStyleIdx="4" presStyleCnt="6">
        <dgm:presLayoutVars>
          <dgm:chMax val="0"/>
          <dgm:chPref val="0"/>
        </dgm:presLayoutVars>
      </dgm:prSet>
      <dgm:spPr/>
    </dgm:pt>
    <dgm:pt modelId="{D2225834-4995-423B-99CE-9F28E210135F}" type="pres">
      <dgm:prSet presAssocID="{06C98FC5-11E2-4D3B-8D49-B1FA67821E0D}" presName="txSpace" presStyleCnt="0"/>
      <dgm:spPr/>
    </dgm:pt>
    <dgm:pt modelId="{AC002858-FA82-49A2-95BF-5CD4E84C79B9}" type="pres">
      <dgm:prSet presAssocID="{06C98FC5-11E2-4D3B-8D49-B1FA67821E0D}" presName="desTx" presStyleLbl="revTx" presStyleIdx="5" presStyleCnt="6">
        <dgm:presLayoutVars/>
      </dgm:prSet>
      <dgm:spPr/>
    </dgm:pt>
  </dgm:ptLst>
  <dgm:cxnLst>
    <dgm:cxn modelId="{621DF812-3BD9-4E7F-8BFE-485CDC5F3FFD}" srcId="{06C98FC5-11E2-4D3B-8D49-B1FA67821E0D}" destId="{8DD71124-0919-48D9-8E4D-91401AFFCB77}" srcOrd="0" destOrd="0" parTransId="{FDE405D7-6721-47FB-94F5-4E606AC1F892}" sibTransId="{290A5DA7-B176-4BC0-AA6A-7A952820B87A}"/>
    <dgm:cxn modelId="{EAAF5013-9900-42E3-941A-C401C4651DA2}" srcId="{AC3AE08F-193B-4FF2-99CB-96102B59B86A}" destId="{02B3075E-7823-4895-8247-24C362A28002}" srcOrd="0" destOrd="0" parTransId="{AFE36F2C-D465-4136-814E-CCC9DA564370}" sibTransId="{CD4AEA71-CAB6-47D8-BDCF-B9E000F5DA4D}"/>
    <dgm:cxn modelId="{08D7D01C-09BC-4C41-AC98-F53FDF5E02DA}" srcId="{B842D5B9-F502-413F-90AA-EE9EDA31D493}" destId="{B0E55168-C09E-442D-AF16-EF0C640E8598}" srcOrd="0" destOrd="0" parTransId="{75876CA4-12EC-4D95-BCB0-6D1ABB412B0D}" sibTransId="{C1F949F8-6B77-4DDE-A979-2E66F27384C9}"/>
    <dgm:cxn modelId="{84EFE623-335F-44DC-BD24-EC2EE13E30E3}" type="presOf" srcId="{8DD71124-0919-48D9-8E4D-91401AFFCB77}" destId="{AC002858-FA82-49A2-95BF-5CD4E84C79B9}" srcOrd="0" destOrd="0" presId="urn:microsoft.com/office/officeart/2018/2/layout/IconLabelDescriptionList"/>
    <dgm:cxn modelId="{BAC60528-37B0-455A-B0DB-0C9A50FC510F}" type="presOf" srcId="{B842D5B9-F502-413F-90AA-EE9EDA31D493}" destId="{3BACF8A7-959D-4B5D-80C7-096B7CFBA586}" srcOrd="0" destOrd="0" presId="urn:microsoft.com/office/officeart/2018/2/layout/IconLabelDescriptionList"/>
    <dgm:cxn modelId="{F7FB2333-A5E7-444B-ABAE-4D34AB755CD8}" srcId="{B0E55168-C09E-442D-AF16-EF0C640E8598}" destId="{5FB77799-CD68-403F-8EA6-E0D2E632BBC7}" srcOrd="0" destOrd="0" parTransId="{0E7C3F51-B2BE-45DC-81A9-B21D32B3CAC2}" sibTransId="{F4E40261-C5BE-43D6-A38F-6F02F0865E26}"/>
    <dgm:cxn modelId="{9EBB5464-3D7A-4E49-AF20-45E4B3147AE7}" type="presOf" srcId="{AC3AE08F-193B-4FF2-99CB-96102B59B86A}" destId="{348CA227-FDCC-4A0B-B602-F667636627E6}" srcOrd="0" destOrd="0" presId="urn:microsoft.com/office/officeart/2018/2/layout/IconLabelDescriptionList"/>
    <dgm:cxn modelId="{3A468D66-8407-4491-BDEF-1E09F3E775B8}" srcId="{B842D5B9-F502-413F-90AA-EE9EDA31D493}" destId="{AC3AE08F-193B-4FF2-99CB-96102B59B86A}" srcOrd="1" destOrd="0" parTransId="{2B20ADDC-5CFD-4F5F-AF1B-E68730861E5C}" sibTransId="{4C222B5F-6AE4-4F3D-9934-7A5F60FBDC65}"/>
    <dgm:cxn modelId="{CA787A68-427E-4570-96AC-D27B5E2D44B6}" type="presOf" srcId="{5FB77799-CD68-403F-8EA6-E0D2E632BBC7}" destId="{5524DCD7-4450-4091-A7CA-7DB67C3DDE0D}" srcOrd="0" destOrd="0" presId="urn:microsoft.com/office/officeart/2018/2/layout/IconLabelDescriptionList"/>
    <dgm:cxn modelId="{7163664A-1F67-4390-BD23-6082A84536DC}" type="presOf" srcId="{06C98FC5-11E2-4D3B-8D49-B1FA67821E0D}" destId="{2B3E4F4E-AE95-4774-9F55-52BECC0E3AE5}" srcOrd="0" destOrd="0" presId="urn:microsoft.com/office/officeart/2018/2/layout/IconLabelDescriptionList"/>
    <dgm:cxn modelId="{3A122D52-EF58-42F5-B08C-6B5355B3584E}" type="presOf" srcId="{B0E55168-C09E-442D-AF16-EF0C640E8598}" destId="{BE7FF781-FBA7-4FD0-B3C9-63B6D7AE24FC}" srcOrd="0" destOrd="0" presId="urn:microsoft.com/office/officeart/2018/2/layout/IconLabelDescriptionList"/>
    <dgm:cxn modelId="{5FDCF889-7BD0-46C6-A1EF-CB55F71BE948}" srcId="{B842D5B9-F502-413F-90AA-EE9EDA31D493}" destId="{06C98FC5-11E2-4D3B-8D49-B1FA67821E0D}" srcOrd="2" destOrd="0" parTransId="{FEB6071A-D57B-4319-A72F-C4EF26A04DC7}" sibTransId="{ADA8F335-8633-410E-944B-07DDD6901CAA}"/>
    <dgm:cxn modelId="{19111B9D-E3EB-4C5C-90BC-E6AF61B9538A}" type="presOf" srcId="{94E2AD92-4CD8-40F1-AB19-99033C219B4F}" destId="{5524DCD7-4450-4091-A7CA-7DB67C3DDE0D}" srcOrd="0" destOrd="2" presId="urn:microsoft.com/office/officeart/2018/2/layout/IconLabelDescriptionList"/>
    <dgm:cxn modelId="{49C41AA6-5B51-4BCA-B366-53BDC2E60519}" type="presOf" srcId="{02B3075E-7823-4895-8247-24C362A28002}" destId="{F37723C6-8B17-45CF-8F73-0539B9CD9397}" srcOrd="0" destOrd="0" presId="urn:microsoft.com/office/officeart/2018/2/layout/IconLabelDescriptionList"/>
    <dgm:cxn modelId="{148797AD-B6A5-404A-BE8F-AFE208D363C1}" type="presOf" srcId="{93962859-E271-48E0-A594-E00CECBAB323}" destId="{5524DCD7-4450-4091-A7CA-7DB67C3DDE0D}" srcOrd="0" destOrd="1" presId="urn:microsoft.com/office/officeart/2018/2/layout/IconLabelDescriptionList"/>
    <dgm:cxn modelId="{75C65DDD-8E19-49B7-B0F4-A7DC163B9621}" srcId="{B0E55168-C09E-442D-AF16-EF0C640E8598}" destId="{93962859-E271-48E0-A594-E00CECBAB323}" srcOrd="1" destOrd="0" parTransId="{389FE78E-A9BC-461B-A3C3-42E867A5B3E9}" sibTransId="{64AD7789-0F25-4B98-A052-E5E21B095D74}"/>
    <dgm:cxn modelId="{E8810DE7-D480-471D-A3E2-0F0114CA2283}" srcId="{B0E55168-C09E-442D-AF16-EF0C640E8598}" destId="{94E2AD92-4CD8-40F1-AB19-99033C219B4F}" srcOrd="2" destOrd="0" parTransId="{2EF9280C-BA6C-4324-B9C4-67E895FDD90F}" sibTransId="{9A7D9CC9-0B07-438B-92EF-919F3351F46E}"/>
    <dgm:cxn modelId="{5E64F196-175B-42DB-A92E-97C7226758B8}" type="presParOf" srcId="{3BACF8A7-959D-4B5D-80C7-096B7CFBA586}" destId="{5FAD474E-25F8-49FE-8971-5708C40582DF}" srcOrd="0" destOrd="0" presId="urn:microsoft.com/office/officeart/2018/2/layout/IconLabelDescriptionList"/>
    <dgm:cxn modelId="{AD535AFD-7E0C-4C98-8A85-B5307B0B7E9A}" type="presParOf" srcId="{5FAD474E-25F8-49FE-8971-5708C40582DF}" destId="{A1347254-A949-4ADE-BC3E-EA32A43A05BF}" srcOrd="0" destOrd="0" presId="urn:microsoft.com/office/officeart/2018/2/layout/IconLabelDescriptionList"/>
    <dgm:cxn modelId="{ACD9E8A3-A546-49DD-B420-36BDFB2F3A0E}" type="presParOf" srcId="{5FAD474E-25F8-49FE-8971-5708C40582DF}" destId="{4A10F564-D67B-451A-A3D4-5C466749DD36}" srcOrd="1" destOrd="0" presId="urn:microsoft.com/office/officeart/2018/2/layout/IconLabelDescriptionList"/>
    <dgm:cxn modelId="{E729C722-F9C0-4E22-B528-29BFFFF1EDB0}" type="presParOf" srcId="{5FAD474E-25F8-49FE-8971-5708C40582DF}" destId="{BE7FF781-FBA7-4FD0-B3C9-63B6D7AE24FC}" srcOrd="2" destOrd="0" presId="urn:microsoft.com/office/officeart/2018/2/layout/IconLabelDescriptionList"/>
    <dgm:cxn modelId="{33777CAE-5318-4BAB-9906-6CCD91F1CEBA}" type="presParOf" srcId="{5FAD474E-25F8-49FE-8971-5708C40582DF}" destId="{A3C045F8-3657-49E1-8F58-F503147640E3}" srcOrd="3" destOrd="0" presId="urn:microsoft.com/office/officeart/2018/2/layout/IconLabelDescriptionList"/>
    <dgm:cxn modelId="{E40E08DE-0255-41E3-9439-36F023E7D9E2}" type="presParOf" srcId="{5FAD474E-25F8-49FE-8971-5708C40582DF}" destId="{5524DCD7-4450-4091-A7CA-7DB67C3DDE0D}" srcOrd="4" destOrd="0" presId="urn:microsoft.com/office/officeart/2018/2/layout/IconLabelDescriptionList"/>
    <dgm:cxn modelId="{032F9321-0FDB-423E-820E-56C3A2ACE3B1}" type="presParOf" srcId="{3BACF8A7-959D-4B5D-80C7-096B7CFBA586}" destId="{7B35A9C6-09B6-453D-8241-266D8C257D05}" srcOrd="1" destOrd="0" presId="urn:microsoft.com/office/officeart/2018/2/layout/IconLabelDescriptionList"/>
    <dgm:cxn modelId="{1B49E08A-F473-4933-B482-63F3D3EB4E43}" type="presParOf" srcId="{3BACF8A7-959D-4B5D-80C7-096B7CFBA586}" destId="{1151C624-8503-4EC3-A9C9-84254289FC8F}" srcOrd="2" destOrd="0" presId="urn:microsoft.com/office/officeart/2018/2/layout/IconLabelDescriptionList"/>
    <dgm:cxn modelId="{038623A8-83D3-44A8-A148-0615EDBD7CC8}" type="presParOf" srcId="{1151C624-8503-4EC3-A9C9-84254289FC8F}" destId="{44594261-93D8-49DE-BB32-9EB46E28DD5E}" srcOrd="0" destOrd="0" presId="urn:microsoft.com/office/officeart/2018/2/layout/IconLabelDescriptionList"/>
    <dgm:cxn modelId="{885EF2F9-7A7F-470F-8763-4A802AD1D182}" type="presParOf" srcId="{1151C624-8503-4EC3-A9C9-84254289FC8F}" destId="{E6244575-1D6F-48D4-B770-545081CF8577}" srcOrd="1" destOrd="0" presId="urn:microsoft.com/office/officeart/2018/2/layout/IconLabelDescriptionList"/>
    <dgm:cxn modelId="{56766A9A-1486-4D37-8D56-CFEBD14BBE71}" type="presParOf" srcId="{1151C624-8503-4EC3-A9C9-84254289FC8F}" destId="{348CA227-FDCC-4A0B-B602-F667636627E6}" srcOrd="2" destOrd="0" presId="urn:microsoft.com/office/officeart/2018/2/layout/IconLabelDescriptionList"/>
    <dgm:cxn modelId="{1495BC27-770E-4F37-B499-6FCA4F825B1E}" type="presParOf" srcId="{1151C624-8503-4EC3-A9C9-84254289FC8F}" destId="{148A3A05-09D7-40CF-B905-AB997487F3A8}" srcOrd="3" destOrd="0" presId="urn:microsoft.com/office/officeart/2018/2/layout/IconLabelDescriptionList"/>
    <dgm:cxn modelId="{5B24B0CB-BE51-443A-A2BD-AE29FF8DB67A}" type="presParOf" srcId="{1151C624-8503-4EC3-A9C9-84254289FC8F}" destId="{F37723C6-8B17-45CF-8F73-0539B9CD9397}" srcOrd="4" destOrd="0" presId="urn:microsoft.com/office/officeart/2018/2/layout/IconLabelDescriptionList"/>
    <dgm:cxn modelId="{9248908B-567E-4DBF-B7EF-DA23C3AB81A8}" type="presParOf" srcId="{3BACF8A7-959D-4B5D-80C7-096B7CFBA586}" destId="{9BE5F16C-500E-46C1-A1BA-C0488FC98233}" srcOrd="3" destOrd="0" presId="urn:microsoft.com/office/officeart/2018/2/layout/IconLabelDescriptionList"/>
    <dgm:cxn modelId="{6CD8893E-63D0-4D71-8AA3-C012A8965BC0}" type="presParOf" srcId="{3BACF8A7-959D-4B5D-80C7-096B7CFBA586}" destId="{C1F0EB4E-B03C-490F-B99F-06B21BB76903}" srcOrd="4" destOrd="0" presId="urn:microsoft.com/office/officeart/2018/2/layout/IconLabelDescriptionList"/>
    <dgm:cxn modelId="{BD45000B-70FB-439D-9314-88CD666244FC}" type="presParOf" srcId="{C1F0EB4E-B03C-490F-B99F-06B21BB76903}" destId="{C1304F72-2E15-48A0-B547-FCF183C3F7DC}" srcOrd="0" destOrd="0" presId="urn:microsoft.com/office/officeart/2018/2/layout/IconLabelDescriptionList"/>
    <dgm:cxn modelId="{DC4B4BA7-2A90-4464-842D-6A7DD31CF106}" type="presParOf" srcId="{C1F0EB4E-B03C-490F-B99F-06B21BB76903}" destId="{4B3710CF-A8D8-49C7-B598-C012F2ACDAB9}" srcOrd="1" destOrd="0" presId="urn:microsoft.com/office/officeart/2018/2/layout/IconLabelDescriptionList"/>
    <dgm:cxn modelId="{891AD22B-8DF7-4722-8369-98DB4E785F06}" type="presParOf" srcId="{C1F0EB4E-B03C-490F-B99F-06B21BB76903}" destId="{2B3E4F4E-AE95-4774-9F55-52BECC0E3AE5}" srcOrd="2" destOrd="0" presId="urn:microsoft.com/office/officeart/2018/2/layout/IconLabelDescriptionList"/>
    <dgm:cxn modelId="{1E266CD6-2751-4B9B-9A2E-6DCA38C49B45}" type="presParOf" srcId="{C1F0EB4E-B03C-490F-B99F-06B21BB76903}" destId="{D2225834-4995-423B-99CE-9F28E210135F}" srcOrd="3" destOrd="0" presId="urn:microsoft.com/office/officeart/2018/2/layout/IconLabelDescriptionList"/>
    <dgm:cxn modelId="{B1D625C8-1C1A-4AF9-9214-91B3CDCEEAB5}" type="presParOf" srcId="{C1F0EB4E-B03C-490F-B99F-06B21BB76903}" destId="{AC002858-FA82-49A2-95BF-5CD4E84C79B9}" srcOrd="4" destOrd="0" presId="urn:microsoft.com/office/officeart/2018/2/layout/IconLabelDescriptionList"/>
  </dgm:cxnLst>
  <dgm:bg/>
  <dgm:whole>
    <a:ln w="381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47254-A949-4ADE-BC3E-EA32A43A05BF}">
      <dsp:nvSpPr>
        <dsp:cNvPr id="0" name=""/>
        <dsp:cNvSpPr/>
      </dsp:nvSpPr>
      <dsp:spPr>
        <a:xfrm>
          <a:off x="6087" y="548410"/>
          <a:ext cx="622500" cy="62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FF781-FBA7-4FD0-B3C9-63B6D7AE24FC}">
      <dsp:nvSpPr>
        <dsp:cNvPr id="0" name=""/>
        <dsp:cNvSpPr/>
      </dsp:nvSpPr>
      <dsp:spPr>
        <a:xfrm>
          <a:off x="6087" y="1280297"/>
          <a:ext cx="1778573" cy="26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kern="1200"/>
            <a:t>Blurting </a:t>
          </a:r>
          <a:endParaRPr lang="en-US" sz="1600" kern="1200"/>
        </a:p>
      </dsp:txBody>
      <dsp:txXfrm>
        <a:off x="6087" y="1280297"/>
        <a:ext cx="1778573" cy="266786"/>
      </dsp:txXfrm>
    </dsp:sp>
    <dsp:sp modelId="{5524DCD7-4450-4091-A7CA-7DB67C3DDE0D}">
      <dsp:nvSpPr>
        <dsp:cNvPr id="0" name=""/>
        <dsp:cNvSpPr/>
      </dsp:nvSpPr>
      <dsp:spPr>
        <a:xfrm>
          <a:off x="6087" y="1597960"/>
          <a:ext cx="1778573" cy="149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Write down everything you remember about a topic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Check the Revision PowerPoints on the classroom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Add/correct your blurt without looking at the information</a:t>
          </a:r>
          <a:endParaRPr lang="en-US" sz="1200" kern="1200"/>
        </a:p>
      </dsp:txBody>
      <dsp:txXfrm>
        <a:off x="6087" y="1597960"/>
        <a:ext cx="1778573" cy="1494295"/>
      </dsp:txXfrm>
    </dsp:sp>
    <dsp:sp modelId="{44594261-93D8-49DE-BB32-9EB46E28DD5E}">
      <dsp:nvSpPr>
        <dsp:cNvPr id="0" name=""/>
        <dsp:cNvSpPr/>
      </dsp:nvSpPr>
      <dsp:spPr>
        <a:xfrm>
          <a:off x="2095912" y="548410"/>
          <a:ext cx="622500" cy="62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CA227-FDCC-4A0B-B602-F667636627E6}">
      <dsp:nvSpPr>
        <dsp:cNvPr id="0" name=""/>
        <dsp:cNvSpPr/>
      </dsp:nvSpPr>
      <dsp:spPr>
        <a:xfrm>
          <a:off x="2095912" y="1280297"/>
          <a:ext cx="1778573" cy="266786"/>
        </a:xfrm>
        <a:prstGeom prst="rect">
          <a:avLst/>
        </a:prstGeom>
        <a:solidFill>
          <a:schemeClr val="lt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kern="1200" dirty="0"/>
            <a:t>Look, cover, check</a:t>
          </a:r>
          <a:endParaRPr lang="en-US" sz="1600" kern="1200" dirty="0"/>
        </a:p>
      </dsp:txBody>
      <dsp:txXfrm>
        <a:off x="2095912" y="1280297"/>
        <a:ext cx="1778573" cy="266786"/>
      </dsp:txXfrm>
    </dsp:sp>
    <dsp:sp modelId="{F37723C6-8B17-45CF-8F73-0539B9CD9397}">
      <dsp:nvSpPr>
        <dsp:cNvPr id="0" name=""/>
        <dsp:cNvSpPr/>
      </dsp:nvSpPr>
      <dsp:spPr>
        <a:xfrm>
          <a:off x="2095912" y="1597960"/>
          <a:ext cx="1778573" cy="149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For trickier topics, look at the Revision PowerPoint first, then blurt and check</a:t>
          </a:r>
          <a:endParaRPr lang="en-US" sz="1200" kern="1200"/>
        </a:p>
      </dsp:txBody>
      <dsp:txXfrm>
        <a:off x="2095912" y="1597960"/>
        <a:ext cx="1778573" cy="1494295"/>
      </dsp:txXfrm>
    </dsp:sp>
    <dsp:sp modelId="{C1304F72-2E15-48A0-B547-FCF183C3F7DC}">
      <dsp:nvSpPr>
        <dsp:cNvPr id="0" name=""/>
        <dsp:cNvSpPr/>
      </dsp:nvSpPr>
      <dsp:spPr>
        <a:xfrm>
          <a:off x="4185736" y="548410"/>
          <a:ext cx="622500" cy="62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E4F4E-AE95-4774-9F55-52BECC0E3AE5}">
      <dsp:nvSpPr>
        <dsp:cNvPr id="0" name=""/>
        <dsp:cNvSpPr/>
      </dsp:nvSpPr>
      <dsp:spPr>
        <a:xfrm>
          <a:off x="4185736" y="1280297"/>
          <a:ext cx="1778573" cy="26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kern="1200"/>
            <a:t>Dual coding</a:t>
          </a:r>
          <a:endParaRPr lang="en-US" sz="1600" kern="1200"/>
        </a:p>
      </dsp:txBody>
      <dsp:txXfrm>
        <a:off x="4185736" y="1280297"/>
        <a:ext cx="1778573" cy="266786"/>
      </dsp:txXfrm>
    </dsp:sp>
    <dsp:sp modelId="{AC002858-FA82-49A2-95BF-5CD4E84C79B9}">
      <dsp:nvSpPr>
        <dsp:cNvPr id="0" name=""/>
        <dsp:cNvSpPr/>
      </dsp:nvSpPr>
      <dsp:spPr>
        <a:xfrm>
          <a:off x="4185736" y="1597960"/>
          <a:ext cx="1778573" cy="149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For topics with multiple stages e.g. protein synthesis or eutrophication, look at the Revision PowerPoint first then create a visual (diagram or cartoon strip) to show the stages</a:t>
          </a:r>
          <a:endParaRPr lang="en-US" sz="1200" kern="1200"/>
        </a:p>
      </dsp:txBody>
      <dsp:txXfrm>
        <a:off x="4185736" y="1597960"/>
        <a:ext cx="1778573" cy="1494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50DB5-2104-4786-82B8-B24E25A1AB8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92363" y="1241425"/>
            <a:ext cx="188436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4BC8C-07F7-478A-A49C-CE86FA3D04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DEDC-E2F2-4F04-950E-7CC102601F59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857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53C1-6954-4A34-B35F-A084FF96A446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16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9E3-5543-4B80-B951-CEB715655DEB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19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93B2-834E-4862-AED9-B565B4392C72}" type="datetime1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06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DDD9B-5FA7-4503-8C80-FB8030B1CE74}" type="datetime1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1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AA76-C994-441E-801C-3B16D6753E8D}" type="datetime1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8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D2A5-42CA-4979-B793-53B90BAA3A34}" type="datetime1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65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6DA7-C8C2-4935-AF9B-A51302BE3A47}" type="datetime1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45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D15D-D807-4B24-B334-9F8F24B01B09}" type="datetime1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66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2EE1-C4D8-4BB2-9A76-2764ABF148D4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2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72B2-883F-4D2B-887E-3B6D1390DAD7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1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82E91-2573-494E-BD33-F6C267F95D3B}" type="datetime1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0CF34-61B1-4644-BC03-E5F327A2EF2F}" type="slidenum">
              <a:rPr lang="en-GB" smtClean="0"/>
              <a:pPr/>
              <a:t>‹#›</a:t>
            </a:fld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66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4BEB-3763-70E2-09B7-250D0D068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IGCSE Physics</a:t>
            </a:r>
            <a:br>
              <a:rPr lang="en-GB" dirty="0"/>
            </a:br>
            <a:r>
              <a:rPr lang="en-GB" dirty="0"/>
              <a:t>Learning 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C2F1F-16B4-3C0B-2E03-37C809A85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Name____________________________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ABBBC-9032-4CBD-9F3D-EE0F3DCD9836}"/>
              </a:ext>
            </a:extLst>
          </p:cNvPr>
          <p:cNvSpPr txBox="1"/>
          <p:nvPr/>
        </p:nvSpPr>
        <p:spPr>
          <a:xfrm>
            <a:off x="685800" y="10196688"/>
            <a:ext cx="548640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Look after this booklet – do not lose it.</a:t>
            </a:r>
          </a:p>
          <a:p>
            <a:endParaRPr lang="en-GB" sz="1400" dirty="0"/>
          </a:p>
          <a:p>
            <a:r>
              <a:rPr lang="en-GB" sz="1400" dirty="0"/>
              <a:t>Do not leave tasks until the last minute before the deadline.</a:t>
            </a:r>
          </a:p>
          <a:p>
            <a:endParaRPr lang="en-GB" sz="1400" dirty="0"/>
          </a:p>
          <a:p>
            <a:r>
              <a:rPr lang="en-GB" sz="1400" dirty="0"/>
              <a:t>Automatic detention if you do not have it with you on the deadline day.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4A57C-21BB-0469-89E2-6D90EC87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</a:t>
            </a:fld>
            <a:endParaRPr lang="en-GB"/>
          </a:p>
        </p:txBody>
      </p:sp>
      <p:pic>
        <p:nvPicPr>
          <p:cNvPr id="6" name="Picture 2" descr="Physics, why and what? – eumeducation.org">
            <a:extLst>
              <a:ext uri="{FF2B5EF4-FFF2-40B4-BE49-F238E27FC236}">
                <a16:creationId xmlns:a16="http://schemas.microsoft.com/office/drawing/2014/main" id="{6AF6E1F4-800D-7047-5819-74690051E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53" y="392618"/>
            <a:ext cx="5495971" cy="395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00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1483-C87B-0734-5100-29337252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EA21242-7B82-E989-2FBA-F3B6C952A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512094"/>
              </p:ext>
            </p:extLst>
          </p:nvPr>
        </p:nvGraphicFramePr>
        <p:xfrm>
          <a:off x="410971" y="5147734"/>
          <a:ext cx="5970398" cy="3640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Revision: Reference list &lt;br/&gt;&lt;br/&gt; — Peer Gallery">
            <a:extLst>
              <a:ext uri="{FF2B5EF4-FFF2-40B4-BE49-F238E27FC236}">
                <a16:creationId xmlns:a16="http://schemas.microsoft.com/office/drawing/2014/main" id="{62263707-8D84-E7F5-C0BD-1B05D545A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3215"/>
            <a:ext cx="6855428" cy="424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621693-5AC7-F55E-4B34-C13BD89EBC09}"/>
              </a:ext>
            </a:extLst>
          </p:cNvPr>
          <p:cNvSpPr txBox="1"/>
          <p:nvPr/>
        </p:nvSpPr>
        <p:spPr>
          <a:xfrm>
            <a:off x="350456" y="8474630"/>
            <a:ext cx="6030913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Techniques that do </a:t>
            </a:r>
            <a:r>
              <a:rPr lang="en-GB" sz="1200" b="1" dirty="0"/>
              <a:t>not</a:t>
            </a:r>
            <a:r>
              <a:rPr lang="en-GB" sz="1200" dirty="0"/>
              <a:t> work well:</a:t>
            </a:r>
          </a:p>
          <a:p>
            <a:endParaRPr lang="en-GB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dirty="0"/>
              <a:t>Just reading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dirty="0"/>
              <a:t>Writing lots of notes from the text book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dirty="0"/>
              <a:t>Re-writing notes in the same format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dirty="0"/>
              <a:t>Copying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dirty="0"/>
              <a:t>Just doing past exam questions – this tests your learning but could leave you with knowledge gaps.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71F70-CF53-122D-1DDA-48840927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58216-77B3-F993-1ADA-0BDADDCCA6D7}"/>
              </a:ext>
            </a:extLst>
          </p:cNvPr>
          <p:cNvSpPr txBox="1"/>
          <p:nvPr/>
        </p:nvSpPr>
        <p:spPr>
          <a:xfrm>
            <a:off x="350455" y="10319125"/>
            <a:ext cx="6030913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How to use this Learning Log:</a:t>
            </a:r>
          </a:p>
          <a:p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Blurt from 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Check using secondary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Correct from memory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337647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919B-4465-DFF0-3A6C-9809FEC2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8A2E-8624-A6AB-829E-CBB2F8EF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9B14-5321-0684-2DDE-50DB3180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580094"/>
            <a:ext cx="6282267" cy="54425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Explain what is happening at A, B, C and D</a:t>
            </a:r>
          </a:p>
          <a:p>
            <a:pPr algn="ctr"/>
            <a:endParaRPr lang="en-GB" sz="1400" dirty="0"/>
          </a:p>
          <a:p>
            <a:pPr algn="ctr"/>
            <a:endParaRPr lang="en-GB" sz="1400" dirty="0"/>
          </a:p>
          <a:p>
            <a:pPr marL="0" indent="0" algn="ctr">
              <a:buNone/>
            </a:pP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E6EA0-26E9-6660-C387-97318D08FB17}"/>
              </a:ext>
            </a:extLst>
          </p:cNvPr>
          <p:cNvSpPr txBox="1"/>
          <p:nvPr/>
        </p:nvSpPr>
        <p:spPr>
          <a:xfrm>
            <a:off x="304800" y="1202353"/>
            <a:ext cx="6196013" cy="507831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Complete the table from memory only: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19134-0D25-D0F2-5EDA-4D0C0C34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5D4F1-1C52-612C-1D09-678EB4DA8929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3C09AD-1387-8588-F8AA-6293D2D5B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968334"/>
              </p:ext>
            </p:extLst>
          </p:nvPr>
        </p:nvGraphicFramePr>
        <p:xfrm>
          <a:off x="770467" y="1797993"/>
          <a:ext cx="5343462" cy="4072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Speed/velocity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0889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99478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45426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Acceleration due to gravity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75896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Moment of a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973556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92403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1030529-9FFE-8C6E-3F91-7D28C224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15" y="6772800"/>
            <a:ext cx="4580965" cy="274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3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1E09-138A-C36C-6A92-A0633734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38F8-CC01-76E1-1037-9799E9ECF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15FA0-12D9-FEB9-8265-52644C8A3302}"/>
              </a:ext>
            </a:extLst>
          </p:cNvPr>
          <p:cNvSpPr txBox="1"/>
          <p:nvPr/>
        </p:nvSpPr>
        <p:spPr>
          <a:xfrm>
            <a:off x="539116" y="3687918"/>
            <a:ext cx="5915024" cy="4616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Calculate the speed at A, B, C and D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76BCDA-4983-12E9-5F01-14E0FE3E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F7D8E-633E-165F-5FB0-4B1BE2A3F15F}"/>
              </a:ext>
            </a:extLst>
          </p:cNvPr>
          <p:cNvSpPr txBox="1"/>
          <p:nvPr/>
        </p:nvSpPr>
        <p:spPr>
          <a:xfrm>
            <a:off x="471488" y="6573939"/>
            <a:ext cx="5915024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Explain how to investigate the motion of everyday objects such as a toy car or tennis ball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4BAC4-C355-F193-B757-AB7920166A6B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momentum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E0CA9-7DCC-7AF8-E5DE-37523127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69" y="1809999"/>
            <a:ext cx="4118619" cy="246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2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B5EB-B78B-F769-1287-1CBA2B05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49629-DFA5-F5B7-E6B4-EA89CAFB8603}"/>
              </a:ext>
            </a:extLst>
          </p:cNvPr>
          <p:cNvSpPr txBox="1"/>
          <p:nvPr/>
        </p:nvSpPr>
        <p:spPr>
          <a:xfrm>
            <a:off x="468842" y="1270000"/>
            <a:ext cx="5915024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Write out the equation for calculating acceleration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75FFF-550D-0D0F-7F5A-1AA924333E12}"/>
              </a:ext>
            </a:extLst>
          </p:cNvPr>
          <p:cNvSpPr txBox="1"/>
          <p:nvPr/>
        </p:nvSpPr>
        <p:spPr>
          <a:xfrm>
            <a:off x="468842" y="8720647"/>
            <a:ext cx="591502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Explain how you would calculate acceleration for the graph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A06C49-9933-AF0A-41CB-8290D978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E958E-8254-7696-ADEC-68373B875F38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01064-F61F-37CA-2E57-AA4E870E56DB}"/>
              </a:ext>
            </a:extLst>
          </p:cNvPr>
          <p:cNvSpPr txBox="1"/>
          <p:nvPr/>
        </p:nvSpPr>
        <p:spPr>
          <a:xfrm>
            <a:off x="468842" y="2979387"/>
            <a:ext cx="5915024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Explain what is happening at A, B, C and 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3074" name="Picture 2" descr="Velocity-time graphs - Motion - Edexcel - GCSE Physics (Single Science)  Revision - Edexcel - BBC Bitesize">
            <a:extLst>
              <a:ext uri="{FF2B5EF4-FFF2-40B4-BE49-F238E27FC236}">
                <a16:creationId xmlns:a16="http://schemas.microsoft.com/office/drawing/2014/main" id="{FEB03967-6957-2DE7-303E-FC2E251BA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58" y="3713289"/>
            <a:ext cx="4078941" cy="272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CE992-B3AB-5FAE-14AA-3D2EF1A964F1}"/>
              </a:ext>
            </a:extLst>
          </p:cNvPr>
          <p:cNvSpPr txBox="1"/>
          <p:nvPr/>
        </p:nvSpPr>
        <p:spPr>
          <a:xfrm>
            <a:off x="468842" y="10399256"/>
            <a:ext cx="591502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Explain how you would calculate distance travelled for the graph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9751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F15E-0D3E-C969-9EC2-5D51A812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9A50-16EB-8149-8458-DFDE4FC9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4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081E-E85A-4B5F-3485-ED7B514F6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5467"/>
            <a:ext cx="6282267" cy="137359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GB" sz="1400" dirty="0"/>
              <a:t>Write out the equation that shows the relationship between final speed, initial speed, acceleration and distance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318E0-9D12-A236-247E-C2AFE8E7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21651-42D9-0C27-F924-554D9B882D07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3D450E-B56A-8827-5259-A51CFCCF1A92}"/>
              </a:ext>
            </a:extLst>
          </p:cNvPr>
          <p:cNvSpPr txBox="1">
            <a:spLocks/>
          </p:cNvSpPr>
          <p:nvPr/>
        </p:nvSpPr>
        <p:spPr>
          <a:xfrm>
            <a:off x="287866" y="3003686"/>
            <a:ext cx="6282267" cy="1373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Complete the sentence: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A force can change an object’s ____________, _____________ or _______________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D2B5CE-5E8D-9985-A20C-95F8DA4CB301}"/>
              </a:ext>
            </a:extLst>
          </p:cNvPr>
          <p:cNvSpPr txBox="1">
            <a:spLocks/>
          </p:cNvSpPr>
          <p:nvPr/>
        </p:nvSpPr>
        <p:spPr>
          <a:xfrm>
            <a:off x="304799" y="4601905"/>
            <a:ext cx="6282267" cy="3419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Complete the table:</a:t>
            </a:r>
          </a:p>
          <a:p>
            <a:pPr marL="0" indent="0">
              <a:buNone/>
            </a:pPr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B66320-8DE9-83E0-5B34-4372DFEF4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65738"/>
              </p:ext>
            </p:extLst>
          </p:nvPr>
        </p:nvGraphicFramePr>
        <p:xfrm>
          <a:off x="830775" y="5065059"/>
          <a:ext cx="5283154" cy="25907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577">
                  <a:extLst>
                    <a:ext uri="{9D8B030D-6E8A-4147-A177-3AD203B41FA5}">
                      <a16:colId xmlns:a16="http://schemas.microsoft.com/office/drawing/2014/main" val="2097476891"/>
                    </a:ext>
                  </a:extLst>
                </a:gridCol>
                <a:gridCol w="2641577">
                  <a:extLst>
                    <a:ext uri="{9D8B030D-6E8A-4147-A177-3AD203B41FA5}">
                      <a16:colId xmlns:a16="http://schemas.microsoft.com/office/drawing/2014/main" val="4023788710"/>
                    </a:ext>
                  </a:extLst>
                </a:gridCol>
              </a:tblGrid>
              <a:tr h="499250">
                <a:tc>
                  <a:txBody>
                    <a:bodyPr/>
                    <a:lstStyle/>
                    <a:p>
                      <a:r>
                        <a:rPr lang="en-GB" dirty="0"/>
                        <a:t>Examples of contact forces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Examples of  non-contact forces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630122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277100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077777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969228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424292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A7AC47-AC4F-30EA-3970-1E5A4F81E55D}"/>
              </a:ext>
            </a:extLst>
          </p:cNvPr>
          <p:cNvSpPr txBox="1">
            <a:spLocks/>
          </p:cNvSpPr>
          <p:nvPr/>
        </p:nvSpPr>
        <p:spPr>
          <a:xfrm>
            <a:off x="331218" y="8218132"/>
            <a:ext cx="6282267" cy="1373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difference between distance and displacement?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EF9667A-EB5E-25F2-C307-4A846483AB7B}"/>
              </a:ext>
            </a:extLst>
          </p:cNvPr>
          <p:cNvSpPr txBox="1">
            <a:spLocks/>
          </p:cNvSpPr>
          <p:nvPr/>
        </p:nvSpPr>
        <p:spPr>
          <a:xfrm>
            <a:off x="331218" y="9788253"/>
            <a:ext cx="6282267" cy="1373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difference between speed and velocity?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2537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F15E-0D3E-C969-9EC2-5D51A812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9A50-16EB-8149-8458-DFDE4FC9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5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081E-E85A-4B5F-3485-ED7B514F6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5467"/>
            <a:ext cx="6282267" cy="248521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GB" sz="1400" dirty="0"/>
              <a:t>Work out the resultant force for each examples: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5D5F6-4CA2-A00E-6E60-EDDA89CE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7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839C8-4FA5-DB3C-0F84-4890660E664E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47022-B993-4FCF-189D-CFD1C228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5" y="2029326"/>
            <a:ext cx="5570949" cy="83937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3918BD2-C4EF-FE31-4379-B9308A05B3C0}"/>
              </a:ext>
            </a:extLst>
          </p:cNvPr>
          <p:cNvSpPr txBox="1">
            <a:spLocks/>
          </p:cNvSpPr>
          <p:nvPr/>
        </p:nvSpPr>
        <p:spPr>
          <a:xfrm>
            <a:off x="287865" y="4026149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definition for friction?: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F7BDDBA-6A11-8208-1574-178F55BEA03B}"/>
              </a:ext>
            </a:extLst>
          </p:cNvPr>
          <p:cNvSpPr txBox="1">
            <a:spLocks/>
          </p:cNvSpPr>
          <p:nvPr/>
        </p:nvSpPr>
        <p:spPr>
          <a:xfrm>
            <a:off x="304800" y="5191561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State the equation for calculating force from mass and acceleration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B547052-2406-8B2F-31D3-254F12DEE1E5}"/>
              </a:ext>
            </a:extLst>
          </p:cNvPr>
          <p:cNvSpPr txBox="1">
            <a:spLocks/>
          </p:cNvSpPr>
          <p:nvPr/>
        </p:nvSpPr>
        <p:spPr>
          <a:xfrm>
            <a:off x="287864" y="6348675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State the equation for calculating weight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CA96DE6-856A-31D1-CE62-AF124448B886}"/>
              </a:ext>
            </a:extLst>
          </p:cNvPr>
          <p:cNvSpPr txBox="1">
            <a:spLocks/>
          </p:cNvSpPr>
          <p:nvPr/>
        </p:nvSpPr>
        <p:spPr>
          <a:xfrm>
            <a:off x="304799" y="7522385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Write out the formula for calculating stopping distances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86269B-3F0A-7585-CC01-D39FF7E5519B}"/>
              </a:ext>
            </a:extLst>
          </p:cNvPr>
          <p:cNvSpPr txBox="1">
            <a:spLocks/>
          </p:cNvSpPr>
          <p:nvPr/>
        </p:nvSpPr>
        <p:spPr>
          <a:xfrm>
            <a:off x="304799" y="8696095"/>
            <a:ext cx="6282267" cy="31007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Describe the factors affecting stopping distance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23555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9081A-EBC8-8FF1-8771-BB85F294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DADC-6F5F-F5F1-252B-CB53F984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6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600CC-6FFD-A4DE-120B-CEC969CB5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5467"/>
            <a:ext cx="6282267" cy="327410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GB" sz="1400" dirty="0"/>
              <a:t>Describe the forces acting on a falling object and explain why it reaches a terminal velocity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0A0C9-7F42-B0AB-34BF-757749AA911A}"/>
              </a:ext>
            </a:extLst>
          </p:cNvPr>
          <p:cNvSpPr txBox="1">
            <a:spLocks/>
          </p:cNvSpPr>
          <p:nvPr/>
        </p:nvSpPr>
        <p:spPr>
          <a:xfrm>
            <a:off x="304800" y="4743325"/>
            <a:ext cx="6282267" cy="45799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Explain how you can investigate how extension varies with force on a helical spring, metal wire and rubber band.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7282-604B-1B62-B592-0924D14D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8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180D3-C29C-D341-0AB5-2057C2E9C1E2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7C4F0D-B43B-FCCB-290A-4649E791461B}"/>
              </a:ext>
            </a:extLst>
          </p:cNvPr>
          <p:cNvSpPr txBox="1">
            <a:spLocks/>
          </p:cNvSpPr>
          <p:nvPr/>
        </p:nvSpPr>
        <p:spPr>
          <a:xfrm>
            <a:off x="304800" y="9387043"/>
            <a:ext cx="6282267" cy="1228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State Hooke’s Law and explain why it does not always apply to a spring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42EB02-485F-60F4-1030-E470FCF4C750}"/>
              </a:ext>
            </a:extLst>
          </p:cNvPr>
          <p:cNvSpPr txBox="1">
            <a:spLocks/>
          </p:cNvSpPr>
          <p:nvPr/>
        </p:nvSpPr>
        <p:spPr>
          <a:xfrm>
            <a:off x="287866" y="10721126"/>
            <a:ext cx="6282267" cy="1228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elastic behaviour?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8079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48C2-F734-8A9D-1F8B-6C383D17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F6FB-1403-E89A-6451-7B80DDC93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7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8A7D-7A02-E883-745D-622808294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5467"/>
            <a:ext cx="6282267" cy="140945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1400" dirty="0"/>
              <a:t>What is the formula for calculating momentum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A400E-D993-7ECA-F396-2740026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326C4-402A-063B-1D15-A553D8FD36E7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Forces and motion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FBADDB-3EAB-76B3-CCA6-AB1472AFCAD5}"/>
              </a:ext>
            </a:extLst>
          </p:cNvPr>
          <p:cNvSpPr txBox="1">
            <a:spLocks/>
          </p:cNvSpPr>
          <p:nvPr/>
        </p:nvSpPr>
        <p:spPr>
          <a:xfrm>
            <a:off x="304800" y="3021615"/>
            <a:ext cx="6282267" cy="2769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Discuss 3 safety features in cars that are related to momentum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9AAFAF-FD45-8162-F456-9543EC6CAE7D}"/>
              </a:ext>
            </a:extLst>
          </p:cNvPr>
          <p:cNvSpPr txBox="1">
            <a:spLocks/>
          </p:cNvSpPr>
          <p:nvPr/>
        </p:nvSpPr>
        <p:spPr>
          <a:xfrm>
            <a:off x="304800" y="5885828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State the equation for calculating force from momentum and time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2488E9-7101-A37F-8485-33F0B966FDE6}"/>
              </a:ext>
            </a:extLst>
          </p:cNvPr>
          <p:cNvSpPr txBox="1">
            <a:spLocks/>
          </p:cNvSpPr>
          <p:nvPr/>
        </p:nvSpPr>
        <p:spPr>
          <a:xfrm>
            <a:off x="304800" y="7010401"/>
            <a:ext cx="6282267" cy="15060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State Newton’s 3rdLaw 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BB03836-8EDE-D6C2-0CEA-F8A462837C9E}"/>
              </a:ext>
            </a:extLst>
          </p:cNvPr>
          <p:cNvSpPr txBox="1">
            <a:spLocks/>
          </p:cNvSpPr>
          <p:nvPr/>
        </p:nvSpPr>
        <p:spPr>
          <a:xfrm>
            <a:off x="304800" y="8669538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equation for calculating moment?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2A0065-64A2-238C-0E47-64FFAA258379}"/>
              </a:ext>
            </a:extLst>
          </p:cNvPr>
          <p:cNvSpPr txBox="1">
            <a:spLocks/>
          </p:cNvSpPr>
          <p:nvPr/>
        </p:nvSpPr>
        <p:spPr>
          <a:xfrm>
            <a:off x="304800" y="9852550"/>
            <a:ext cx="6282267" cy="10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centre of gravity of an object?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7563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B43AA-D5BC-B4EB-603F-9C8D8DFC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E042-04E1-F0B0-E4D1-457F4E03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9511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8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51F7-35FB-D47F-A506-6DA30F0A6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5467"/>
            <a:ext cx="6282267" cy="382992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1400" dirty="0"/>
              <a:t>Complete the table from memory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494CB-0A47-599B-32F3-B5B5FDF6DAB8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Electricity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34FD0-FF11-CEF2-D353-7C9A3D63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8366B9-D698-BA5E-4781-28FE039BB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553262"/>
              </p:ext>
            </p:extLst>
          </p:nvPr>
        </p:nvGraphicFramePr>
        <p:xfrm>
          <a:off x="770467" y="1797993"/>
          <a:ext cx="5343462" cy="3172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0889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99478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Potential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45426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758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2C399E-EB89-2726-F071-0FE62093F44B}"/>
              </a:ext>
            </a:extLst>
          </p:cNvPr>
          <p:cNvSpPr txBox="1"/>
          <p:nvPr/>
        </p:nvSpPr>
        <p:spPr>
          <a:xfrm>
            <a:off x="304800" y="5486400"/>
            <a:ext cx="6282267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Explain how the following protect domestic appliances: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Double insulation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Earthing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Circuit breakers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10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DF4F-31AC-086D-0691-E17E0403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8D72-62CE-631B-BF48-E0C5C475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9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D5520E-8F5D-4D7D-7499-F10962C4838A}"/>
              </a:ext>
            </a:extLst>
          </p:cNvPr>
          <p:cNvSpPr txBox="1">
            <a:spLocks/>
          </p:cNvSpPr>
          <p:nvPr/>
        </p:nvSpPr>
        <p:spPr>
          <a:xfrm>
            <a:off x="295010" y="1031631"/>
            <a:ext cx="6267980" cy="3472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GB" sz="1400" dirty="0"/>
              <a:t>Explain how a toaster works in terms of resistance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B00F6-E7D7-23D8-8ACF-E179707D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11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A88A8B6-7BEF-14B9-1A3F-48F104AF1EED}"/>
              </a:ext>
            </a:extLst>
          </p:cNvPr>
          <p:cNvSpPr txBox="1">
            <a:spLocks/>
          </p:cNvSpPr>
          <p:nvPr/>
        </p:nvSpPr>
        <p:spPr>
          <a:xfrm>
            <a:off x="295009" y="4664050"/>
            <a:ext cx="6267980" cy="1145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formula for calculating power?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F2AA4-0012-DEC1-332A-844E04B5B1FE}"/>
              </a:ext>
            </a:extLst>
          </p:cNvPr>
          <p:cNvSpPr txBox="1"/>
          <p:nvPr/>
        </p:nvSpPr>
        <p:spPr>
          <a:xfrm>
            <a:off x="4073789" y="16421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877D-ADD9-7585-E95A-BCC5A7BDC5EA}"/>
              </a:ext>
            </a:extLst>
          </p:cNvPr>
          <p:cNvSpPr txBox="1">
            <a:spLocks/>
          </p:cNvSpPr>
          <p:nvPr/>
        </p:nvSpPr>
        <p:spPr>
          <a:xfrm>
            <a:off x="295009" y="5916705"/>
            <a:ext cx="6267980" cy="1145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formula for energy transferred using current, voltage and time?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W</a:t>
            </a:r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E84049-626C-CACD-D94C-3E3257CC04AC}"/>
              </a:ext>
            </a:extLst>
          </p:cNvPr>
          <p:cNvSpPr txBox="1">
            <a:spLocks/>
          </p:cNvSpPr>
          <p:nvPr/>
        </p:nvSpPr>
        <p:spPr>
          <a:xfrm>
            <a:off x="295009" y="7169360"/>
            <a:ext cx="6267980" cy="1145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difference between the current supplied by mains electricity and a battery?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42B127-D068-C75D-7F36-3F70856D42C2}"/>
              </a:ext>
            </a:extLst>
          </p:cNvPr>
          <p:cNvSpPr txBox="1">
            <a:spLocks/>
          </p:cNvSpPr>
          <p:nvPr/>
        </p:nvSpPr>
        <p:spPr>
          <a:xfrm>
            <a:off x="295009" y="8422015"/>
            <a:ext cx="6267980" cy="1145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Why is a parallel circuit more appropriate for domestic lighting?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5D0378-B933-DD9C-88F6-4DF32F301EA2}"/>
              </a:ext>
            </a:extLst>
          </p:cNvPr>
          <p:cNvSpPr txBox="1">
            <a:spLocks/>
          </p:cNvSpPr>
          <p:nvPr/>
        </p:nvSpPr>
        <p:spPr>
          <a:xfrm>
            <a:off x="295009" y="9674670"/>
            <a:ext cx="6267980" cy="22746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factors effect the size of the current in a series circuit?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51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2948-FA02-5654-49D4-B7943AA5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4E8A-2935-102D-4E1C-D40732CC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10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34EA7-359E-DCF6-7E67-96589FD3A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010" y="6823684"/>
            <a:ext cx="6267980" cy="135421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GB" sz="1400" dirty="0"/>
              <a:t>What is current?</a:t>
            </a:r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320E72-9B5E-194C-9C6D-40340272D87A}"/>
              </a:ext>
            </a:extLst>
          </p:cNvPr>
          <p:cNvSpPr txBox="1">
            <a:spLocks/>
          </p:cNvSpPr>
          <p:nvPr/>
        </p:nvSpPr>
        <p:spPr>
          <a:xfrm>
            <a:off x="295010" y="1031631"/>
            <a:ext cx="6267980" cy="4133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How can the effect of voltage on current be investigated in wires, </a:t>
            </a:r>
            <a:r>
              <a:rPr lang="en-GB" sz="1400" dirty="0" err="1"/>
              <a:t>resisitors</a:t>
            </a:r>
            <a:r>
              <a:rPr lang="en-GB" sz="1400" dirty="0"/>
              <a:t>, metal filament lamps and diodes?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878C5-957A-F75D-4D9E-C1351C04855E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Electricity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A3DE-9508-BAE6-C05E-0A494F7C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12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70248-A5F6-DD1C-C439-1D149E1E7118}"/>
              </a:ext>
            </a:extLst>
          </p:cNvPr>
          <p:cNvSpPr txBox="1"/>
          <p:nvPr/>
        </p:nvSpPr>
        <p:spPr>
          <a:xfrm>
            <a:off x="295010" y="5317067"/>
            <a:ext cx="6267980" cy="13542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What is the equation for calculating voltage?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00FE44-D07E-A766-EF03-77C4A6A02245}"/>
              </a:ext>
            </a:extLst>
          </p:cNvPr>
          <p:cNvSpPr txBox="1">
            <a:spLocks/>
          </p:cNvSpPr>
          <p:nvPr/>
        </p:nvSpPr>
        <p:spPr>
          <a:xfrm>
            <a:off x="319087" y="8330302"/>
            <a:ext cx="6267980" cy="1354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What is the equation for calculating charge?</a:t>
            </a:r>
            <a:endParaRPr lang="en-GB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AFC813-D852-D621-68AB-9CA0AE2C71D7}"/>
              </a:ext>
            </a:extLst>
          </p:cNvPr>
          <p:cNvSpPr txBox="1">
            <a:spLocks/>
          </p:cNvSpPr>
          <p:nvPr/>
        </p:nvSpPr>
        <p:spPr>
          <a:xfrm>
            <a:off x="319087" y="9836918"/>
            <a:ext cx="6267980" cy="1870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Explain how current passes through solid metallic conductors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7491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F2C8-BCCE-4093-6033-0E21B067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6F44-6319-25F2-14FF-906AFF8C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11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8E6B9-45AB-9BFA-8D72-B28E2334EB31}"/>
              </a:ext>
            </a:extLst>
          </p:cNvPr>
          <p:cNvSpPr txBox="1">
            <a:spLocks/>
          </p:cNvSpPr>
          <p:nvPr/>
        </p:nvSpPr>
        <p:spPr>
          <a:xfrm>
            <a:off x="344117" y="7070866"/>
            <a:ext cx="6242950" cy="4439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Name 5 common materials: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That conduct electricity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That are electrical insulators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Go to the relevant revision PowerPoint on the Classroom and read the information</a:t>
            </a:r>
          </a:p>
          <a:p>
            <a:r>
              <a:rPr lang="en-GB" sz="1200" dirty="0"/>
              <a:t>Close the ppt and correct your blurt using a different colour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20CFA4-2EB3-C88B-F47D-971629667A8B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2444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why current is conserved at a junction in a circuit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38D26-7983-B911-943C-21EF62E79355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Electricity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F7FF9B-E729-2999-9239-E71FAC9D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13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6A8A4F-4EFF-C0DD-7353-7BA312964191}"/>
              </a:ext>
            </a:extLst>
          </p:cNvPr>
          <p:cNvSpPr txBox="1">
            <a:spLocks/>
          </p:cNvSpPr>
          <p:nvPr/>
        </p:nvSpPr>
        <p:spPr>
          <a:xfrm>
            <a:off x="344117" y="3651950"/>
            <a:ext cx="6242950" cy="955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voltage?</a:t>
            </a:r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C32905-8B55-A74F-F4A7-C04CA3EF799F}"/>
              </a:ext>
            </a:extLst>
          </p:cNvPr>
          <p:cNvSpPr txBox="1">
            <a:spLocks/>
          </p:cNvSpPr>
          <p:nvPr/>
        </p:nvSpPr>
        <p:spPr>
          <a:xfrm>
            <a:off x="344117" y="4773211"/>
            <a:ext cx="6242950" cy="955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a volt?</a:t>
            </a:r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5CE333-B441-554A-C014-57A0F1FF3A04}"/>
              </a:ext>
            </a:extLst>
          </p:cNvPr>
          <p:cNvSpPr txBox="1">
            <a:spLocks/>
          </p:cNvSpPr>
          <p:nvPr/>
        </p:nvSpPr>
        <p:spPr>
          <a:xfrm>
            <a:off x="344117" y="5913074"/>
            <a:ext cx="6242950" cy="955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equation for calculating energy transferred using charge and voltage?</a:t>
            </a:r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781987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AB91-F693-C81A-AEAC-9E39C1BE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9238-C468-DA41-731F-5B6F17A6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12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B1B5DE-7E8F-02A6-DF03-4E87929A8FC8}"/>
              </a:ext>
            </a:extLst>
          </p:cNvPr>
          <p:cNvSpPr txBox="1">
            <a:spLocks/>
          </p:cNvSpPr>
          <p:nvPr/>
        </p:nvSpPr>
        <p:spPr>
          <a:xfrm>
            <a:off x="320040" y="1031630"/>
            <a:ext cx="6242950" cy="4400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Describe an experiment to investigate how insulating materials can be charged by friction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03EC1-1886-03E1-62E2-38ADC7CB5082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Electricity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2B00-2D84-DB57-1570-B016E670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14</a:t>
            </a:fld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3815F1-6118-E3CB-7EB9-1189762768D7}"/>
              </a:ext>
            </a:extLst>
          </p:cNvPr>
          <p:cNvSpPr txBox="1">
            <a:spLocks/>
          </p:cNvSpPr>
          <p:nvPr/>
        </p:nvSpPr>
        <p:spPr>
          <a:xfrm>
            <a:off x="344117" y="5531596"/>
            <a:ext cx="6242950" cy="20930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How are positive and negative electrostatic charges produce on materials?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341FB3-F928-8F8C-2128-9D9A0E266B62}"/>
              </a:ext>
            </a:extLst>
          </p:cNvPr>
          <p:cNvSpPr txBox="1">
            <a:spLocks/>
          </p:cNvSpPr>
          <p:nvPr/>
        </p:nvSpPr>
        <p:spPr>
          <a:xfrm>
            <a:off x="344117" y="7723670"/>
            <a:ext cx="6242950" cy="2093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Describe 2 situations where electrostatic charges can be dangerous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29AB8F-8B0B-23C9-5053-16255A1FC5F8}"/>
              </a:ext>
            </a:extLst>
          </p:cNvPr>
          <p:cNvSpPr txBox="1">
            <a:spLocks/>
          </p:cNvSpPr>
          <p:nvPr/>
        </p:nvSpPr>
        <p:spPr>
          <a:xfrm>
            <a:off x="344117" y="9915745"/>
            <a:ext cx="6242950" cy="20930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Describe 2 uses of electrostatic charges in the workplace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4033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4793D-EA07-7B21-681B-375B4EA6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FEAF-E2CD-1CCF-98EA-8D92EE20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13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A5ED0B-B233-A920-BEE5-01906DA22D92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336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Complete the table from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01BEC-3E2C-1376-FF49-8587838103E0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Waves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1C7EC-639A-852D-6FB8-0E4C5B9F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AED0ED-8A59-5C05-27F8-1AB1AE0CDA03}"/>
              </a:ext>
            </a:extLst>
          </p:cNvPr>
          <p:cNvSpPr txBox="1">
            <a:spLocks/>
          </p:cNvSpPr>
          <p:nvPr/>
        </p:nvSpPr>
        <p:spPr>
          <a:xfrm>
            <a:off x="344117" y="4553804"/>
            <a:ext cx="6242950" cy="1583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difference between transverse and longitudinal waves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89B9D-E0DF-DAB9-4630-881C7A07DF06}"/>
              </a:ext>
            </a:extLst>
          </p:cNvPr>
          <p:cNvSpPr txBox="1">
            <a:spLocks/>
          </p:cNvSpPr>
          <p:nvPr/>
        </p:nvSpPr>
        <p:spPr>
          <a:xfrm>
            <a:off x="344117" y="6226946"/>
            <a:ext cx="6242950" cy="32577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Define the following:</a:t>
            </a:r>
          </a:p>
          <a:p>
            <a:pPr marL="0" indent="0">
              <a:buNone/>
            </a:pPr>
            <a:r>
              <a:rPr lang="en-GB" sz="1200" dirty="0"/>
              <a:t>Amplitude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Wavefront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Frequency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Wavelength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Period of a wave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47BBFB-FE8A-34C4-7E5A-4110A9A69CC4}"/>
              </a:ext>
            </a:extLst>
          </p:cNvPr>
          <p:cNvSpPr txBox="1">
            <a:spLocks/>
          </p:cNvSpPr>
          <p:nvPr/>
        </p:nvSpPr>
        <p:spPr>
          <a:xfrm>
            <a:off x="344117" y="9562650"/>
            <a:ext cx="6242950" cy="1039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formula for wave speed?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960B5-F067-104F-E2D7-9E8A19852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21667"/>
              </p:ext>
            </p:extLst>
          </p:nvPr>
        </p:nvGraphicFramePr>
        <p:xfrm>
          <a:off x="793861" y="1589943"/>
          <a:ext cx="5343462" cy="23795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Angle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wavelength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0889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99478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194DC-3B4D-61C9-88B4-42DD0ACEC479}"/>
              </a:ext>
            </a:extLst>
          </p:cNvPr>
          <p:cNvSpPr txBox="1">
            <a:spLocks/>
          </p:cNvSpPr>
          <p:nvPr/>
        </p:nvSpPr>
        <p:spPr>
          <a:xfrm>
            <a:off x="307524" y="10680049"/>
            <a:ext cx="6242950" cy="1039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formula for frequency?</a:t>
            </a:r>
          </a:p>
        </p:txBody>
      </p:sp>
    </p:spTree>
    <p:extLst>
      <p:ext uri="{BB962C8B-B14F-4D97-AF65-F5344CB8AC3E}">
        <p14:creationId xmlns:p14="http://schemas.microsoft.com/office/powerpoint/2010/main" val="154390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5C5D-9E90-83EE-5800-1ED4E558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D2FF-7C44-CE40-3334-F9D4E552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14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0C105-462B-E7C4-BF00-8719C173A266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Waves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410F14-D4AD-4DFE-9697-6BA28D45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C2FB06-6D49-38FD-6B32-6F46BF29485C}"/>
              </a:ext>
            </a:extLst>
          </p:cNvPr>
          <p:cNvSpPr txBox="1">
            <a:spLocks/>
          </p:cNvSpPr>
          <p:nvPr/>
        </p:nvSpPr>
        <p:spPr>
          <a:xfrm>
            <a:off x="307525" y="1095020"/>
            <a:ext cx="6255466" cy="2297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Doppler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954C-9495-68DC-5B59-964F70C324E7}"/>
              </a:ext>
            </a:extLst>
          </p:cNvPr>
          <p:cNvSpPr txBox="1">
            <a:spLocks/>
          </p:cNvSpPr>
          <p:nvPr/>
        </p:nvSpPr>
        <p:spPr>
          <a:xfrm>
            <a:off x="307524" y="3581996"/>
            <a:ext cx="6242950" cy="2110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Name the waves that make up the electromagnetic spectrum in order of decreasing wavelength (increasing frequency)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283619-DBC4-0A62-B959-612280B05F66}"/>
              </a:ext>
            </a:extLst>
          </p:cNvPr>
          <p:cNvSpPr txBox="1">
            <a:spLocks/>
          </p:cNvSpPr>
          <p:nvPr/>
        </p:nvSpPr>
        <p:spPr>
          <a:xfrm>
            <a:off x="320041" y="10334093"/>
            <a:ext cx="6242950" cy="1525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Name the colours that make up the visible spectrum in order of decreasing wavelength (increasing frequency)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CC86E7-3370-E1FA-DE22-183223BC08E4}"/>
              </a:ext>
            </a:extLst>
          </p:cNvPr>
          <p:cNvSpPr txBox="1">
            <a:spLocks/>
          </p:cNvSpPr>
          <p:nvPr/>
        </p:nvSpPr>
        <p:spPr>
          <a:xfrm>
            <a:off x="307524" y="5831208"/>
            <a:ext cx="6242950" cy="23757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1 use for each part of the electromagnetic spectrum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A0E76F-E3F2-E30B-DFE9-3AA9A3AD1E7E}"/>
              </a:ext>
            </a:extLst>
          </p:cNvPr>
          <p:cNvSpPr txBox="1">
            <a:spLocks/>
          </p:cNvSpPr>
          <p:nvPr/>
        </p:nvSpPr>
        <p:spPr>
          <a:xfrm>
            <a:off x="320041" y="8345212"/>
            <a:ext cx="6242950" cy="18715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Identify the harmful electromagnetic waves and their effects on the body</a:t>
            </a:r>
          </a:p>
        </p:txBody>
      </p:sp>
    </p:spTree>
    <p:extLst>
      <p:ext uri="{BB962C8B-B14F-4D97-AF65-F5344CB8AC3E}">
        <p14:creationId xmlns:p14="http://schemas.microsoft.com/office/powerpoint/2010/main" val="265582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A318-37BD-36DF-33FE-423638B5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B52C-FDBE-5842-8048-58A777E2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15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C8932C-CD4C-15C1-00E2-EC1E82D1B698}"/>
              </a:ext>
            </a:extLst>
          </p:cNvPr>
          <p:cNvSpPr txBox="1">
            <a:spLocks/>
          </p:cNvSpPr>
          <p:nvPr/>
        </p:nvSpPr>
        <p:spPr>
          <a:xfrm>
            <a:off x="282493" y="5245334"/>
            <a:ext cx="6242950" cy="2178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formula for refractive index?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Go to the relevant revision PowerPoint on the Classroom and read the information</a:t>
            </a:r>
          </a:p>
          <a:p>
            <a:r>
              <a:rPr lang="en-GB" sz="1200" dirty="0"/>
              <a:t>Close the ppt and correct your explanation using a different colour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111F4-0F6D-6435-9C9C-B906EBDE99C0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Waves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F23C77-B910-B726-16C7-FC688CFF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17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8840C3-65F9-483B-824E-A3D80C37D3AC}"/>
              </a:ext>
            </a:extLst>
          </p:cNvPr>
          <p:cNvSpPr txBox="1">
            <a:spLocks/>
          </p:cNvSpPr>
          <p:nvPr/>
        </p:nvSpPr>
        <p:spPr>
          <a:xfrm>
            <a:off x="282493" y="1095020"/>
            <a:ext cx="6255466" cy="2887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difference between refraction and reflection? Include ray diagrams in your explanation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41A64-63F9-71A0-2409-872D533CC3E1}"/>
              </a:ext>
            </a:extLst>
          </p:cNvPr>
          <p:cNvSpPr txBox="1"/>
          <p:nvPr/>
        </p:nvSpPr>
        <p:spPr>
          <a:xfrm>
            <a:off x="295009" y="7653867"/>
            <a:ext cx="624295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Describe how you would determine the refractive index of a glass block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0253B-C1A3-0763-12A5-BB022FDAFDBE}"/>
              </a:ext>
            </a:extLst>
          </p:cNvPr>
          <p:cNvSpPr txBox="1">
            <a:spLocks/>
          </p:cNvSpPr>
          <p:nvPr/>
        </p:nvSpPr>
        <p:spPr>
          <a:xfrm>
            <a:off x="301266" y="4092174"/>
            <a:ext cx="6255466" cy="1043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law of reflection?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625749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5B52-5FBA-9633-41F0-8124471E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C1D3-F6B3-D887-476B-A49EC21E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16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70AF8-70CC-9D38-20F9-C8615CD101E0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Waves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B16772-EF7D-65DB-B2DF-F3DAD0B2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18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8E9D04-336B-075A-AEAB-B9F66FA65C8E}"/>
              </a:ext>
            </a:extLst>
          </p:cNvPr>
          <p:cNvSpPr txBox="1">
            <a:spLocks/>
          </p:cNvSpPr>
          <p:nvPr/>
        </p:nvSpPr>
        <p:spPr>
          <a:xfrm>
            <a:off x="301266" y="1233167"/>
            <a:ext cx="6255466" cy="24236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how optical fibres carry information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1A65-3ED9-9886-D6A3-A01305349B11}"/>
              </a:ext>
            </a:extLst>
          </p:cNvPr>
          <p:cNvSpPr txBox="1">
            <a:spLocks/>
          </p:cNvSpPr>
          <p:nvPr/>
        </p:nvSpPr>
        <p:spPr>
          <a:xfrm>
            <a:off x="301266" y="3751813"/>
            <a:ext cx="6255466" cy="1652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meaning of critical angle c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3FC572-8A11-723A-610A-1C107986C09E}"/>
              </a:ext>
            </a:extLst>
          </p:cNvPr>
          <p:cNvSpPr txBox="1">
            <a:spLocks/>
          </p:cNvSpPr>
          <p:nvPr/>
        </p:nvSpPr>
        <p:spPr>
          <a:xfrm>
            <a:off x="301266" y="5499333"/>
            <a:ext cx="6255466" cy="1309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relationship between critical angle and refractive index?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70254A-B1D2-E3A4-C924-BF6F0B052E66}"/>
              </a:ext>
            </a:extLst>
          </p:cNvPr>
          <p:cNvSpPr txBox="1">
            <a:spLocks/>
          </p:cNvSpPr>
          <p:nvPr/>
        </p:nvSpPr>
        <p:spPr>
          <a:xfrm>
            <a:off x="301266" y="6903953"/>
            <a:ext cx="6255466" cy="1309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frequency range for human hearing?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93152C-4D36-5210-70B0-54058C102152}"/>
              </a:ext>
            </a:extLst>
          </p:cNvPr>
          <p:cNvSpPr txBox="1">
            <a:spLocks/>
          </p:cNvSpPr>
          <p:nvPr/>
        </p:nvSpPr>
        <p:spPr>
          <a:xfrm>
            <a:off x="301266" y="8308573"/>
            <a:ext cx="6255466" cy="3445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to investigate the speed of sound in air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09649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03B1-F8E4-C502-124A-96D2EC31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D830-B669-2236-6F8C-8631163E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17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A7541-DD1F-633C-95D0-00003B5EF8A5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Waves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972E50-11C2-146E-4EE6-2E93BBFA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19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F1A1E0-CBD0-6CDB-3429-614ED9DEF3E3}"/>
              </a:ext>
            </a:extLst>
          </p:cNvPr>
          <p:cNvSpPr txBox="1">
            <a:spLocks/>
          </p:cNvSpPr>
          <p:nvPr/>
        </p:nvSpPr>
        <p:spPr>
          <a:xfrm>
            <a:off x="301266" y="5291571"/>
            <a:ext cx="6255466" cy="32520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to investigate the frequency of a sound wave using an oscilloscope 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60DA-A676-F210-94E4-82A91127D8F6}"/>
              </a:ext>
            </a:extLst>
          </p:cNvPr>
          <p:cNvSpPr txBox="1">
            <a:spLocks/>
          </p:cNvSpPr>
          <p:nvPr/>
        </p:nvSpPr>
        <p:spPr>
          <a:xfrm>
            <a:off x="295009" y="2887353"/>
            <a:ext cx="6242950" cy="22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can an oscilloscope and a microphone be used to display a sound wave?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CF8149-54E9-F0AD-6E21-4D3609C98826}"/>
              </a:ext>
            </a:extLst>
          </p:cNvPr>
          <p:cNvSpPr txBox="1">
            <a:spLocks/>
          </p:cNvSpPr>
          <p:nvPr/>
        </p:nvSpPr>
        <p:spPr>
          <a:xfrm>
            <a:off x="282493" y="1095020"/>
            <a:ext cx="6255466" cy="16037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why multicellular organisms need a specialised transport system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D864D-2F48-DA14-0452-69894FC4BA9B}"/>
              </a:ext>
            </a:extLst>
          </p:cNvPr>
          <p:cNvSpPr txBox="1"/>
          <p:nvPr/>
        </p:nvSpPr>
        <p:spPr>
          <a:xfrm>
            <a:off x="282493" y="8715012"/>
            <a:ext cx="624295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How can a wave be used to calculate the pitch of a sound?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E6533D-7CDB-EE35-215A-4D470E50A9D2}"/>
              </a:ext>
            </a:extLst>
          </p:cNvPr>
          <p:cNvSpPr txBox="1">
            <a:spLocks/>
          </p:cNvSpPr>
          <p:nvPr/>
        </p:nvSpPr>
        <p:spPr>
          <a:xfrm>
            <a:off x="282493" y="10271399"/>
            <a:ext cx="6255466" cy="16037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can a wave be used to calculate the loudness of a sound?</a:t>
            </a:r>
          </a:p>
        </p:txBody>
      </p:sp>
    </p:spTree>
    <p:extLst>
      <p:ext uri="{BB962C8B-B14F-4D97-AF65-F5344CB8AC3E}">
        <p14:creationId xmlns:p14="http://schemas.microsoft.com/office/powerpoint/2010/main" val="3517398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EA16-E4DA-CD2A-AFAF-18741661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B1C5-50D1-49EC-8125-5E545A11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18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20103-BC89-F032-72E0-D4D114901583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Energy resources and energy transfers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EB3FBC-6E30-9001-F068-FC3ED560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20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0F4573-1A41-89F0-06C8-FC17BF9C32C4}"/>
              </a:ext>
            </a:extLst>
          </p:cNvPr>
          <p:cNvSpPr txBox="1">
            <a:spLocks/>
          </p:cNvSpPr>
          <p:nvPr/>
        </p:nvSpPr>
        <p:spPr>
          <a:xfrm>
            <a:off x="282493" y="1074237"/>
            <a:ext cx="6255466" cy="4145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b="1" dirty="0"/>
              <a:t>Complete the table</a:t>
            </a: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6AF8A1-FAD6-C99E-A0E1-8F3277F35E19}"/>
              </a:ext>
            </a:extLst>
          </p:cNvPr>
          <p:cNvSpPr txBox="1">
            <a:spLocks/>
          </p:cNvSpPr>
          <p:nvPr/>
        </p:nvSpPr>
        <p:spPr>
          <a:xfrm>
            <a:off x="282493" y="5391150"/>
            <a:ext cx="6255466" cy="38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List 8 types of energy stores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A4556B-1989-EA52-50AE-2646C6789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030461"/>
              </p:ext>
            </p:extLst>
          </p:nvPr>
        </p:nvGraphicFramePr>
        <p:xfrm>
          <a:off x="757268" y="1459770"/>
          <a:ext cx="5343462" cy="35693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0889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99478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371611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89573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28692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BF0CF3-0676-2AEE-7EB9-E5C4713DF373}"/>
              </a:ext>
            </a:extLst>
          </p:cNvPr>
          <p:cNvSpPr txBox="1">
            <a:spLocks/>
          </p:cNvSpPr>
          <p:nvPr/>
        </p:nvSpPr>
        <p:spPr>
          <a:xfrm>
            <a:off x="282493" y="9448800"/>
            <a:ext cx="6255466" cy="21759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List 4 types of energy transfer</a:t>
            </a:r>
          </a:p>
        </p:txBody>
      </p:sp>
    </p:spTree>
    <p:extLst>
      <p:ext uri="{BB962C8B-B14F-4D97-AF65-F5344CB8AC3E}">
        <p14:creationId xmlns:p14="http://schemas.microsoft.com/office/powerpoint/2010/main" val="2948965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B1F3F-2DFF-98F9-6181-04B6E8CE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9AC3-28AB-E5BD-F696-52231747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19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C9C859-91AE-B57C-99E4-389B005387C4}"/>
              </a:ext>
            </a:extLst>
          </p:cNvPr>
          <p:cNvSpPr txBox="1">
            <a:spLocks/>
          </p:cNvSpPr>
          <p:nvPr/>
        </p:nvSpPr>
        <p:spPr>
          <a:xfrm>
            <a:off x="320040" y="1031629"/>
            <a:ext cx="6242950" cy="1711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Write the equation for calculating efficiency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528A6F-5743-DC97-3882-FC8ED7290D31}"/>
              </a:ext>
            </a:extLst>
          </p:cNvPr>
          <p:cNvSpPr txBox="1">
            <a:spLocks/>
          </p:cNvSpPr>
          <p:nvPr/>
        </p:nvSpPr>
        <p:spPr>
          <a:xfrm>
            <a:off x="320040" y="7117098"/>
            <a:ext cx="6242950" cy="4888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heat energy is transferred through conduction, radiation and </a:t>
            </a:r>
            <a:r>
              <a:rPr lang="en-GB" sz="1200" dirty="0" err="1"/>
              <a:t>covection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E68A3-1727-4F9D-825C-FD15CA168DD7}"/>
              </a:ext>
            </a:extLst>
          </p:cNvPr>
          <p:cNvSpPr txBox="1"/>
          <p:nvPr/>
        </p:nvSpPr>
        <p:spPr>
          <a:xfrm>
            <a:off x="4097867" y="186267"/>
            <a:ext cx="248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Energy resources and energy transfers</a:t>
            </a:r>
          </a:p>
          <a:p>
            <a:pPr algn="ctr"/>
            <a:endParaRPr lang="en-GB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EE922-3F6D-D845-B367-99C0CE89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21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24D763-E845-FF3F-6C4D-79112DC3EC83}"/>
              </a:ext>
            </a:extLst>
          </p:cNvPr>
          <p:cNvSpPr txBox="1">
            <a:spLocks/>
          </p:cNvSpPr>
          <p:nvPr/>
        </p:nvSpPr>
        <p:spPr>
          <a:xfrm>
            <a:off x="307524" y="2849898"/>
            <a:ext cx="6242950" cy="41605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An electric motor is supplied with 100 kJ of electrical energy. 70% of this energy is converted into kinetic energy, while the rest is lost as heat and sound.</a:t>
            </a:r>
          </a:p>
          <a:p>
            <a:r>
              <a:rPr lang="en-GB" sz="1400" dirty="0"/>
              <a:t>Draw a Sankey diagram to represent these energy transfers.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35625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4CE3-CACC-E18E-EAB6-13EE7592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4DAC-F586-5219-9EAA-429BFB49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20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56D9D3-AB20-C2A4-8CF1-9220BE55E70C}"/>
              </a:ext>
            </a:extLst>
          </p:cNvPr>
          <p:cNvSpPr txBox="1">
            <a:spLocks/>
          </p:cNvSpPr>
          <p:nvPr/>
        </p:nvSpPr>
        <p:spPr>
          <a:xfrm>
            <a:off x="270933" y="4552950"/>
            <a:ext cx="6242950" cy="2308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how emission and absorption or radiation are related to surface and temperature</a:t>
            </a:r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39932-ED96-CEE6-E774-EE461B844B31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Energy resources and energy transfers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5C912-9B9D-6BC8-7E21-977F862A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22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C87E9-06A5-9596-C9BF-A9CA066B67EF}"/>
              </a:ext>
            </a:extLst>
          </p:cNvPr>
          <p:cNvSpPr txBox="1">
            <a:spLocks/>
          </p:cNvSpPr>
          <p:nvPr/>
        </p:nvSpPr>
        <p:spPr>
          <a:xfrm>
            <a:off x="307525" y="6934200"/>
            <a:ext cx="6242950" cy="50047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to investigate thermal energy transfer by conduction, convection and radiation in the lab.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593B85-3258-47BF-FD89-61BF3A2653C3}"/>
              </a:ext>
            </a:extLst>
          </p:cNvPr>
          <p:cNvSpPr txBox="1">
            <a:spLocks/>
          </p:cNvSpPr>
          <p:nvPr/>
        </p:nvSpPr>
        <p:spPr>
          <a:xfrm>
            <a:off x="270933" y="1220719"/>
            <a:ext cx="6242950" cy="12176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2 examples of convection in everyday life</a:t>
            </a:r>
          </a:p>
          <a:p>
            <a:endParaRPr lang="en-GB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A2DD41-A0D9-198F-F73A-A534D018E34B}"/>
              </a:ext>
            </a:extLst>
          </p:cNvPr>
          <p:cNvSpPr txBox="1">
            <a:spLocks/>
          </p:cNvSpPr>
          <p:nvPr/>
        </p:nvSpPr>
        <p:spPr>
          <a:xfrm>
            <a:off x="270933" y="2564099"/>
            <a:ext cx="6242950" cy="1916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how heat loss in the home can be </a:t>
            </a:r>
            <a:r>
              <a:rPr lang="en-GB" sz="1200" dirty="0" err="1"/>
              <a:t>reudced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328663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077A-5930-9065-03FD-EE864793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B77D-53DD-4980-E3BE-6CE5A61E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21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1ECFD2-ED49-84D7-4BBD-04C271A76C29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1286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the equation for calculating work done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68560-DFEC-71AC-91C3-2BDD6FD568AF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Energy resources and energy transfers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44289-5D1B-F271-2AB6-ED739E38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23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96671D-F114-1610-5003-92D20D294C3A}"/>
              </a:ext>
            </a:extLst>
          </p:cNvPr>
          <p:cNvSpPr txBox="1">
            <a:spLocks/>
          </p:cNvSpPr>
          <p:nvPr/>
        </p:nvSpPr>
        <p:spPr>
          <a:xfrm>
            <a:off x="344117" y="2483430"/>
            <a:ext cx="6242950" cy="1286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the equation for calculating gravitational potential energy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33AE3D-F5EA-5886-7A9E-348465D2F004}"/>
              </a:ext>
            </a:extLst>
          </p:cNvPr>
          <p:cNvSpPr txBox="1">
            <a:spLocks/>
          </p:cNvSpPr>
          <p:nvPr/>
        </p:nvSpPr>
        <p:spPr>
          <a:xfrm>
            <a:off x="344117" y="3881190"/>
            <a:ext cx="6242950" cy="1286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the equation for calculating kinetic energy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EC34E6-C377-A552-6899-43568A3674EB}"/>
              </a:ext>
            </a:extLst>
          </p:cNvPr>
          <p:cNvSpPr txBox="1">
            <a:spLocks/>
          </p:cNvSpPr>
          <p:nvPr/>
        </p:nvSpPr>
        <p:spPr>
          <a:xfrm>
            <a:off x="344117" y="5282486"/>
            <a:ext cx="6242950" cy="913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Define power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4AC9FD-08A2-E84B-6213-C9100EE915D7}"/>
              </a:ext>
            </a:extLst>
          </p:cNvPr>
          <p:cNvSpPr txBox="1">
            <a:spLocks/>
          </p:cNvSpPr>
          <p:nvPr/>
        </p:nvSpPr>
        <p:spPr>
          <a:xfrm>
            <a:off x="344117" y="6298249"/>
            <a:ext cx="6242950" cy="1286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the equation for calculating power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8D93E3-3064-7D61-6A2D-880A01341127}"/>
              </a:ext>
            </a:extLst>
          </p:cNvPr>
          <p:cNvSpPr txBox="1">
            <a:spLocks/>
          </p:cNvSpPr>
          <p:nvPr/>
        </p:nvSpPr>
        <p:spPr>
          <a:xfrm>
            <a:off x="358404" y="7686660"/>
            <a:ext cx="6242950" cy="4105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energy transfers involved in generating electricity using:</a:t>
            </a:r>
          </a:p>
          <a:p>
            <a:r>
              <a:rPr lang="en-GB" sz="1200" dirty="0"/>
              <a:t>Wind</a:t>
            </a:r>
          </a:p>
          <a:p>
            <a:endParaRPr lang="en-GB" sz="1200" dirty="0"/>
          </a:p>
          <a:p>
            <a:r>
              <a:rPr lang="en-GB" sz="1200" dirty="0"/>
              <a:t>Water</a:t>
            </a:r>
          </a:p>
          <a:p>
            <a:endParaRPr lang="en-GB" sz="1200" dirty="0"/>
          </a:p>
          <a:p>
            <a:r>
              <a:rPr lang="en-GB" sz="1200" dirty="0"/>
              <a:t>Geothermal energy</a:t>
            </a:r>
          </a:p>
          <a:p>
            <a:endParaRPr lang="en-GB" sz="1200" dirty="0"/>
          </a:p>
          <a:p>
            <a:r>
              <a:rPr lang="en-GB" sz="1200" dirty="0"/>
              <a:t>Solar heating systems</a:t>
            </a:r>
          </a:p>
          <a:p>
            <a:endParaRPr lang="en-GB" sz="1200" dirty="0"/>
          </a:p>
          <a:p>
            <a:r>
              <a:rPr lang="en-GB" sz="1200" dirty="0"/>
              <a:t>Solar cells</a:t>
            </a:r>
          </a:p>
          <a:p>
            <a:endParaRPr lang="en-GB" sz="1200" dirty="0"/>
          </a:p>
          <a:p>
            <a:r>
              <a:rPr lang="en-GB" sz="1200" dirty="0"/>
              <a:t>Fossil fuels</a:t>
            </a:r>
          </a:p>
          <a:p>
            <a:endParaRPr lang="en-GB" sz="1200" dirty="0"/>
          </a:p>
          <a:p>
            <a:r>
              <a:rPr lang="en-GB" sz="1200" dirty="0"/>
              <a:t>Nuclear power</a:t>
            </a:r>
          </a:p>
        </p:txBody>
      </p:sp>
    </p:spTree>
    <p:extLst>
      <p:ext uri="{BB962C8B-B14F-4D97-AF65-F5344CB8AC3E}">
        <p14:creationId xmlns:p14="http://schemas.microsoft.com/office/powerpoint/2010/main" val="3324171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09F5-1926-D415-B3DB-61BE04A7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5D50-4AF6-0FED-8CDD-EFA92BB1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22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956DB6-F17D-793E-A6DF-2B3FAA9CCFC5}"/>
              </a:ext>
            </a:extLst>
          </p:cNvPr>
          <p:cNvSpPr txBox="1">
            <a:spLocks/>
          </p:cNvSpPr>
          <p:nvPr/>
        </p:nvSpPr>
        <p:spPr>
          <a:xfrm>
            <a:off x="344117" y="6587067"/>
            <a:ext cx="6242950" cy="1223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equation for calculating density?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6CC812-A0CA-C5D8-8B6B-93DBFC58A821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5418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C8475-0685-29F8-9D03-F79F1764FDE9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Solids, liquids and gases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346F4-15C1-1AFD-C770-FFF10164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24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EE8826-E5FE-D984-123E-618D70B1F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730655"/>
              </p:ext>
            </p:extLst>
          </p:nvPr>
        </p:nvGraphicFramePr>
        <p:xfrm>
          <a:off x="793861" y="1226498"/>
          <a:ext cx="5343462" cy="5155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Absolute 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0889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99478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371611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89573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2869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00576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626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575125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29460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A01912-CD3C-3C3F-AEC3-31F4F1FCE6F4}"/>
              </a:ext>
            </a:extLst>
          </p:cNvPr>
          <p:cNvSpPr txBox="1">
            <a:spLocks/>
          </p:cNvSpPr>
          <p:nvPr/>
        </p:nvSpPr>
        <p:spPr>
          <a:xfrm>
            <a:off x="344117" y="7883881"/>
            <a:ext cx="6242950" cy="4065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to investigate density in the lab using direct measurements of mass and volume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0953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EA70F-5E8B-184F-1987-A97C8AFC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2BE2-33A9-2B20-081C-557FAB1F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23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1C9C4-6AA6-B3BD-1A8B-646481DF788C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Solids, liquids and gases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EC1FC-E6D1-7826-7972-C20C1DB0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CA4254-11D6-773B-14D4-2A788F3AB136}"/>
              </a:ext>
            </a:extLst>
          </p:cNvPr>
          <p:cNvSpPr txBox="1">
            <a:spLocks/>
          </p:cNvSpPr>
          <p:nvPr/>
        </p:nvSpPr>
        <p:spPr>
          <a:xfrm>
            <a:off x="307524" y="6791673"/>
            <a:ext cx="6242950" cy="4714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arrangement and motion of particles in a solid, liquid and gas.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4533C7-9055-2804-B8AA-F812042B701B}"/>
              </a:ext>
            </a:extLst>
          </p:cNvPr>
          <p:cNvSpPr txBox="1">
            <a:spLocks/>
          </p:cNvSpPr>
          <p:nvPr/>
        </p:nvSpPr>
        <p:spPr>
          <a:xfrm>
            <a:off x="344117" y="1231903"/>
            <a:ext cx="6242950" cy="1223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equation for calculating pressure?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D898E1-77C9-6C96-2045-BF393EDE26B8}"/>
              </a:ext>
            </a:extLst>
          </p:cNvPr>
          <p:cNvSpPr txBox="1">
            <a:spLocks/>
          </p:cNvSpPr>
          <p:nvPr/>
        </p:nvSpPr>
        <p:spPr>
          <a:xfrm>
            <a:off x="344117" y="2598559"/>
            <a:ext cx="6242950" cy="1223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equation for calculating pressure? Difference?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7A83A0-D37B-EDA4-DB69-047F95437818}"/>
              </a:ext>
            </a:extLst>
          </p:cNvPr>
          <p:cNvSpPr txBox="1">
            <a:spLocks/>
          </p:cNvSpPr>
          <p:nvPr/>
        </p:nvSpPr>
        <p:spPr>
          <a:xfrm>
            <a:off x="344117" y="3965215"/>
            <a:ext cx="6242950" cy="26832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does heating raise the temperature of a system or change its state?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19289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59C4-455F-8D6F-70DB-93567915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08C5-CBB8-7A44-D389-4945807D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24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7EEB3C-FA81-DA96-BF4F-98479F820F04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4114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a practical to obtain a temperature-time graph to show the constant temperature during a change of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4CFC3-DBBF-BF3E-1167-2C41E7633297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Solids, liquids and gases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79166-B892-FE1C-B466-4DD75367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26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424C96-A6EA-6E5C-9930-D853D7F89FB6}"/>
              </a:ext>
            </a:extLst>
          </p:cNvPr>
          <p:cNvSpPr txBox="1">
            <a:spLocks/>
          </p:cNvSpPr>
          <p:nvPr/>
        </p:nvSpPr>
        <p:spPr>
          <a:xfrm>
            <a:off x="344117" y="5438775"/>
            <a:ext cx="6242950" cy="1314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specific heat capacity?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87BFEF-E12A-3B42-F01E-47FE9BF31BC5}"/>
              </a:ext>
            </a:extLst>
          </p:cNvPr>
          <p:cNvSpPr txBox="1">
            <a:spLocks/>
          </p:cNvSpPr>
          <p:nvPr/>
        </p:nvSpPr>
        <p:spPr>
          <a:xfrm>
            <a:off x="344117" y="6959443"/>
            <a:ext cx="6242950" cy="1314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equation for change in thermal energy??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3FD4E7-F92B-3793-6B11-B39EF4965FEF}"/>
              </a:ext>
            </a:extLst>
          </p:cNvPr>
          <p:cNvSpPr txBox="1">
            <a:spLocks/>
          </p:cNvSpPr>
          <p:nvPr/>
        </p:nvSpPr>
        <p:spPr>
          <a:xfrm>
            <a:off x="344117" y="8465062"/>
            <a:ext cx="6242950" cy="3269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a practical to investigate the specific heat capacity of water and solids</a:t>
            </a:r>
          </a:p>
        </p:txBody>
      </p:sp>
    </p:spTree>
    <p:extLst>
      <p:ext uri="{BB962C8B-B14F-4D97-AF65-F5344CB8AC3E}">
        <p14:creationId xmlns:p14="http://schemas.microsoft.com/office/powerpoint/2010/main" val="2491481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A33A-4579-67EA-51EE-A6ADDC17A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82DB-073F-2815-9BC2-06E58A08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25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AC95D9-BA61-BB3A-DA62-AE13E02F670D}"/>
              </a:ext>
            </a:extLst>
          </p:cNvPr>
          <p:cNvSpPr txBox="1">
            <a:spLocks/>
          </p:cNvSpPr>
          <p:nvPr/>
        </p:nvSpPr>
        <p:spPr>
          <a:xfrm>
            <a:off x="307524" y="5226507"/>
            <a:ext cx="6242950" cy="1543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State the relationship between the pressure and Kelvin temperature of a fixed mass of gas at a constant temperature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A7DD2-EF27-731F-2D30-15787D36AF88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Solids, liquids and gases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058B8-7112-CDA3-5A12-E0C267AF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86108-67A2-D946-CD11-ACBA8A29FE6D}"/>
              </a:ext>
            </a:extLst>
          </p:cNvPr>
          <p:cNvSpPr txBox="1"/>
          <p:nvPr/>
        </p:nvSpPr>
        <p:spPr>
          <a:xfrm>
            <a:off x="307524" y="1095020"/>
            <a:ext cx="6279543" cy="1138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What is the value for absolute zero and what does it mean?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04B30-48F4-CC5A-219A-B7FF3CD8FFDF}"/>
              </a:ext>
            </a:extLst>
          </p:cNvPr>
          <p:cNvSpPr txBox="1"/>
          <p:nvPr/>
        </p:nvSpPr>
        <p:spPr>
          <a:xfrm>
            <a:off x="307524" y="2265382"/>
            <a:ext cx="6279543" cy="11387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Describe how to convert between degrees Celsius and kelvin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6EE2A-77C6-1BD9-DD64-8E1535D8AE3A}"/>
              </a:ext>
            </a:extLst>
          </p:cNvPr>
          <p:cNvSpPr txBox="1"/>
          <p:nvPr/>
        </p:nvSpPr>
        <p:spPr>
          <a:xfrm>
            <a:off x="307524" y="3631945"/>
            <a:ext cx="6279543" cy="13542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Explain why increasing temperature increases the speed of gas molecules and the pressure exerted by the gas on the walls of the container.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C0A949-C58B-500F-F552-4F3125BE00A7}"/>
              </a:ext>
            </a:extLst>
          </p:cNvPr>
          <p:cNvSpPr txBox="1">
            <a:spLocks/>
          </p:cNvSpPr>
          <p:nvPr/>
        </p:nvSpPr>
        <p:spPr>
          <a:xfrm>
            <a:off x="344117" y="6902405"/>
            <a:ext cx="6242950" cy="1543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State the relationship between the pressure and volume of a fixed mass of gas at a constant temperature</a:t>
            </a:r>
          </a:p>
        </p:txBody>
      </p:sp>
    </p:spTree>
    <p:extLst>
      <p:ext uri="{BB962C8B-B14F-4D97-AF65-F5344CB8AC3E}">
        <p14:creationId xmlns:p14="http://schemas.microsoft.com/office/powerpoint/2010/main" val="171581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33AD-F23E-AC0C-1598-66435E1D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DC16-1AB3-D220-E755-05D4A07E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26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6200FB-D002-953F-4DBA-BE74A187F638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22196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Complete the table form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2DCD5-BF61-E6F5-7D1A-852A68F067F7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Magnetism </a:t>
            </a:r>
            <a:r>
              <a:rPr lang="en-GB" sz="1400"/>
              <a:t>and electromagnetism</a:t>
            </a:r>
            <a:endParaRPr lang="en-GB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44C72-5997-A261-6C4D-C273F6FF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28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E9C602-D8FD-FE88-D7EA-152B90557C7E}"/>
              </a:ext>
            </a:extLst>
          </p:cNvPr>
          <p:cNvSpPr txBox="1">
            <a:spLocks/>
          </p:cNvSpPr>
          <p:nvPr/>
        </p:nvSpPr>
        <p:spPr>
          <a:xfrm>
            <a:off x="344117" y="3410893"/>
            <a:ext cx="6242950" cy="2062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properties of:</a:t>
            </a:r>
          </a:p>
          <a:p>
            <a:r>
              <a:rPr lang="en-GB" sz="1200" dirty="0"/>
              <a:t>Magnetically hard materials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Magnetically soft materials</a:t>
            </a:r>
          </a:p>
          <a:p>
            <a:pPr marL="0" indent="0">
              <a:buNone/>
            </a:pPr>
            <a:endParaRPr lang="en-GB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D1C899-39D7-0125-05A6-E76239CCF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825078"/>
              </p:ext>
            </p:extLst>
          </p:nvPr>
        </p:nvGraphicFramePr>
        <p:xfrm>
          <a:off x="757268" y="1459770"/>
          <a:ext cx="5343462" cy="1586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Potential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43324EC-7664-DE9E-059A-2A721167B56A}"/>
              </a:ext>
            </a:extLst>
          </p:cNvPr>
          <p:cNvSpPr txBox="1">
            <a:spLocks/>
          </p:cNvSpPr>
          <p:nvPr/>
        </p:nvSpPr>
        <p:spPr>
          <a:xfrm>
            <a:off x="344117" y="5569894"/>
            <a:ext cx="6242950" cy="9660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does ‘magnetic field line’ mean?</a:t>
            </a:r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AD4A44-9160-84F6-D10D-7BD788FF56BE}"/>
              </a:ext>
            </a:extLst>
          </p:cNvPr>
          <p:cNvSpPr txBox="1">
            <a:spLocks/>
          </p:cNvSpPr>
          <p:nvPr/>
        </p:nvSpPr>
        <p:spPr>
          <a:xfrm>
            <a:off x="344117" y="6632160"/>
            <a:ext cx="6242950" cy="9660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can magnetism be induced in some materials?</a:t>
            </a:r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4ED1FE9-6B05-593E-2F0D-8976641A133F}"/>
              </a:ext>
            </a:extLst>
          </p:cNvPr>
          <p:cNvSpPr txBox="1">
            <a:spLocks/>
          </p:cNvSpPr>
          <p:nvPr/>
        </p:nvSpPr>
        <p:spPr>
          <a:xfrm>
            <a:off x="344117" y="7694426"/>
            <a:ext cx="6242950" cy="4040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an experiment to investigate the magnetic field pattern for a bar magnet and between 2 bar magnets</a:t>
            </a:r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880955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854C-F801-5AF9-5335-C07D1520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5E6F-E530-F0BD-3ADD-08C7E447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27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5CF1BE-A42A-0762-764C-4F04F743ED9B}"/>
              </a:ext>
            </a:extLst>
          </p:cNvPr>
          <p:cNvSpPr txBox="1">
            <a:spLocks/>
          </p:cNvSpPr>
          <p:nvPr/>
        </p:nvSpPr>
        <p:spPr>
          <a:xfrm>
            <a:off x="307524" y="1150755"/>
            <a:ext cx="6242950" cy="1935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to use 2 permanent magnets to produce a uniform magnetic field pattern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27FB8-D07C-111F-E1F0-C00843C3370C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Magnetism and electromagnetism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66C1E-EA02-08F2-5E01-95B0EE09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29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1759FC-1345-3FD3-8695-5953F3A188AA}"/>
              </a:ext>
            </a:extLst>
          </p:cNvPr>
          <p:cNvSpPr txBox="1">
            <a:spLocks/>
          </p:cNvSpPr>
          <p:nvPr/>
        </p:nvSpPr>
        <p:spPr>
          <a:xfrm>
            <a:off x="307524" y="3275185"/>
            <a:ext cx="6242950" cy="1935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conduction of electromagnets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7BA628-2C6A-9915-3FCC-3312E6DD99CD}"/>
              </a:ext>
            </a:extLst>
          </p:cNvPr>
          <p:cNvSpPr txBox="1">
            <a:spLocks/>
          </p:cNvSpPr>
          <p:nvPr/>
        </p:nvSpPr>
        <p:spPr>
          <a:xfrm>
            <a:off x="307524" y="5399614"/>
            <a:ext cx="6242950" cy="62589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Draw magnetic field patterns for the following: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When each is carrying a current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8B128A-1F43-9C6E-D6A5-736977F96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222245"/>
              </p:ext>
            </p:extLst>
          </p:nvPr>
        </p:nvGraphicFramePr>
        <p:xfrm>
          <a:off x="1042988" y="5848350"/>
          <a:ext cx="4557712" cy="5161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57712">
                  <a:extLst>
                    <a:ext uri="{9D8B030D-6E8A-4147-A177-3AD203B41FA5}">
                      <a16:colId xmlns:a16="http://schemas.microsoft.com/office/drawing/2014/main" val="1248824603"/>
                    </a:ext>
                  </a:extLst>
                </a:gridCol>
              </a:tblGrid>
              <a:tr h="1720379">
                <a:tc>
                  <a:txBody>
                    <a:bodyPr/>
                    <a:lstStyle/>
                    <a:p>
                      <a:r>
                        <a:rPr lang="en-GB" dirty="0"/>
                        <a:t>A Straight wire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913708"/>
                  </a:ext>
                </a:extLst>
              </a:tr>
              <a:tr h="1720379">
                <a:tc>
                  <a:txBody>
                    <a:bodyPr/>
                    <a:lstStyle/>
                    <a:p>
                      <a:r>
                        <a:rPr lang="en-GB" dirty="0"/>
                        <a:t>A flat circular coil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696589"/>
                  </a:ext>
                </a:extLst>
              </a:tr>
              <a:tr h="1720379">
                <a:tc>
                  <a:txBody>
                    <a:bodyPr/>
                    <a:lstStyle/>
                    <a:p>
                      <a:r>
                        <a:rPr lang="en-GB" dirty="0"/>
                        <a:t>Solenoid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47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63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7C79-FF93-E027-E17F-150D4628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A9F8-5133-DF2D-2155-0BE010A4E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28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7A3779-7D14-DD26-3A6D-3EA46F9A7A83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1514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Complete the following sentence: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There is a _____________ on a _____________ particle when it moves in a _________________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filed, as long as its motion is not _________________ to the field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D43C2-39C7-B4BE-23AF-ACAE13F389F1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Magnetism and electromagnetism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4178B-5153-A241-90DA-A9A223C7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30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34EDE2-2FDF-C24A-9924-A144A9B8E2C8}"/>
              </a:ext>
            </a:extLst>
          </p:cNvPr>
          <p:cNvSpPr txBox="1">
            <a:spLocks/>
          </p:cNvSpPr>
          <p:nvPr/>
        </p:nvSpPr>
        <p:spPr>
          <a:xfrm>
            <a:off x="344117" y="2741319"/>
            <a:ext cx="6242950" cy="16782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why a force is exerted on a wire carrying a current in a magnetic field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A5DC9A-273A-9A35-EC9A-6B5099B10FA7}"/>
              </a:ext>
            </a:extLst>
          </p:cNvPr>
          <p:cNvSpPr txBox="1">
            <a:spLocks/>
          </p:cNvSpPr>
          <p:nvPr/>
        </p:nvSpPr>
        <p:spPr>
          <a:xfrm>
            <a:off x="344117" y="4551069"/>
            <a:ext cx="6242950" cy="16782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is this effect used in simple </a:t>
            </a:r>
            <a:r>
              <a:rPr lang="en-GB" sz="1200" dirty="0" err="1"/>
              <a:t>d.c.</a:t>
            </a:r>
            <a:r>
              <a:rPr lang="en-GB" sz="1200" dirty="0"/>
              <a:t> electric motors and loudspeakers?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CF590-714D-9B4C-CBF6-9E855E2301E2}"/>
              </a:ext>
            </a:extLst>
          </p:cNvPr>
          <p:cNvSpPr txBox="1">
            <a:spLocks/>
          </p:cNvSpPr>
          <p:nvPr/>
        </p:nvSpPr>
        <p:spPr>
          <a:xfrm>
            <a:off x="344117" y="6360819"/>
            <a:ext cx="6242950" cy="26117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left-hand rule</a:t>
            </a:r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E6CDBA-CF6F-728E-F637-AA7BFE7D2CB0}"/>
              </a:ext>
            </a:extLst>
          </p:cNvPr>
          <p:cNvSpPr txBox="1">
            <a:spLocks/>
          </p:cNvSpPr>
          <p:nvPr/>
        </p:nvSpPr>
        <p:spPr>
          <a:xfrm>
            <a:off x="344117" y="9104019"/>
            <a:ext cx="6242950" cy="26117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the force on a conductor carrying a current in a magnetic field changes with the magnitude and direction of the field and current</a:t>
            </a:r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24309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EEE7-E932-EB13-181F-23AACFA6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3720-423B-65D9-0677-1044C6B9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29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418859-EECE-E08E-6F60-604A198E627F}"/>
              </a:ext>
            </a:extLst>
          </p:cNvPr>
          <p:cNvSpPr txBox="1">
            <a:spLocks/>
          </p:cNvSpPr>
          <p:nvPr/>
        </p:nvSpPr>
        <p:spPr>
          <a:xfrm>
            <a:off x="344117" y="6713357"/>
            <a:ext cx="6242950" cy="2278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structure of a transformer.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CC9BE-5EF1-F3E5-CAD4-E84AF8AED473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Magnetism and electromagnetism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8814CA-CE07-6D96-BDBB-32A631C5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761CF-B9FB-4B4A-0E32-F4E1985C6A8E}"/>
              </a:ext>
            </a:extLst>
          </p:cNvPr>
          <p:cNvSpPr txBox="1"/>
          <p:nvPr/>
        </p:nvSpPr>
        <p:spPr>
          <a:xfrm>
            <a:off x="344117" y="1095020"/>
            <a:ext cx="6242950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How can a voltage be induced in a coil using a magnetic filed?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B4586-D0E7-852B-7467-BD458F12DA63}"/>
              </a:ext>
            </a:extLst>
          </p:cNvPr>
          <p:cNvSpPr txBox="1"/>
          <p:nvPr/>
        </p:nvSpPr>
        <p:spPr>
          <a:xfrm>
            <a:off x="344117" y="3707538"/>
            <a:ext cx="6242950" cy="2893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Describe the factors that affect the size of the induced voltage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DF6B68-0934-5E05-28EE-E00120F23C0E}"/>
              </a:ext>
            </a:extLst>
          </p:cNvPr>
          <p:cNvSpPr txBox="1">
            <a:spLocks/>
          </p:cNvSpPr>
          <p:nvPr/>
        </p:nvSpPr>
        <p:spPr>
          <a:xfrm>
            <a:off x="344117" y="9199737"/>
            <a:ext cx="6242950" cy="27721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does a transformer change the size of an alternating voltage?.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7945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DC23-D316-BE5F-B000-5E1D4D04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2E83-45E3-6AA7-C989-12DBEEC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30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29C8C1-CD7D-0139-6DCD-2CDF940E6021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2276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Which formula shows the relationship between input (primary) and output (secondary) voltages and the turns ration for a transformer?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F23649-3400-D38E-9519-29C38C499962}"/>
              </a:ext>
            </a:extLst>
          </p:cNvPr>
          <p:cNvSpPr txBox="1">
            <a:spLocks/>
          </p:cNvSpPr>
          <p:nvPr/>
        </p:nvSpPr>
        <p:spPr>
          <a:xfrm>
            <a:off x="344117" y="3643491"/>
            <a:ext cx="6242950" cy="24525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Show the relationship between input and output power for 100% efficiency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A13EE-6E59-A529-1D4A-F0240DA761F2}"/>
              </a:ext>
            </a:extLst>
          </p:cNvPr>
          <p:cNvSpPr txBox="1"/>
          <p:nvPr/>
        </p:nvSpPr>
        <p:spPr>
          <a:xfrm>
            <a:off x="4097867" y="186267"/>
            <a:ext cx="248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Magnetism and electromagnetism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500B0-2D72-908D-83A9-EAC6207C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758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480A-E8E1-5E49-3C41-8DE46B6C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CF7D-457A-D2A7-0707-C37AE212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31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2AB727-3647-1D7B-9CDA-FC96F4E58FDC}"/>
              </a:ext>
            </a:extLst>
          </p:cNvPr>
          <p:cNvSpPr txBox="1">
            <a:spLocks/>
          </p:cNvSpPr>
          <p:nvPr/>
        </p:nvSpPr>
        <p:spPr>
          <a:xfrm>
            <a:off x="307524" y="1095020"/>
            <a:ext cx="6242950" cy="2981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Complete the table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FAD76-1A34-5514-3EF2-3EA2C087D8C6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Radioactivity and particles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53616-A7D4-5882-4CD0-4C77F612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33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D000CD-9837-EC85-138E-8FAE67BDA0E5}"/>
              </a:ext>
            </a:extLst>
          </p:cNvPr>
          <p:cNvSpPr txBox="1">
            <a:spLocks/>
          </p:cNvSpPr>
          <p:nvPr/>
        </p:nvSpPr>
        <p:spPr>
          <a:xfrm>
            <a:off x="307524" y="4240391"/>
            <a:ext cx="6242950" cy="1219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structure of an atom in terms of sub-atomic particles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E050EB-D561-7005-53AA-50D71A36863F}"/>
              </a:ext>
            </a:extLst>
          </p:cNvPr>
          <p:cNvSpPr txBox="1">
            <a:spLocks/>
          </p:cNvSpPr>
          <p:nvPr/>
        </p:nvSpPr>
        <p:spPr>
          <a:xfrm>
            <a:off x="307524" y="7848600"/>
            <a:ext cx="6242950" cy="41571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following ionising radiations: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54636E-A926-0BF3-492F-E849A67FA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638227"/>
              </p:ext>
            </p:extLst>
          </p:nvPr>
        </p:nvGraphicFramePr>
        <p:xfrm>
          <a:off x="757268" y="1459770"/>
          <a:ext cx="5343462" cy="23795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Radioactivity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centimetre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3968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923294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1B5FF8-17D6-CE5C-5F20-1F2A3B76DE49}"/>
              </a:ext>
            </a:extLst>
          </p:cNvPr>
          <p:cNvSpPr txBox="1">
            <a:spLocks/>
          </p:cNvSpPr>
          <p:nvPr/>
        </p:nvSpPr>
        <p:spPr>
          <a:xfrm>
            <a:off x="307524" y="5534852"/>
            <a:ext cx="6242950" cy="2134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following terms:</a:t>
            </a:r>
          </a:p>
          <a:p>
            <a:pPr marL="0" indent="0">
              <a:buNone/>
            </a:pPr>
            <a:r>
              <a:rPr lang="en-GB" sz="1200" dirty="0"/>
              <a:t>Atomic number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Mass number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Isotope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55A079-F730-D83A-CD72-CC012DBEB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364902"/>
              </p:ext>
            </p:extLst>
          </p:nvPr>
        </p:nvGraphicFramePr>
        <p:xfrm>
          <a:off x="471486" y="8229600"/>
          <a:ext cx="5915025" cy="3579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914">
                  <a:extLst>
                    <a:ext uri="{9D8B030D-6E8A-4147-A177-3AD203B41FA5}">
                      <a16:colId xmlns:a16="http://schemas.microsoft.com/office/drawing/2014/main" val="837133873"/>
                    </a:ext>
                  </a:extLst>
                </a:gridCol>
                <a:gridCol w="4964111">
                  <a:extLst>
                    <a:ext uri="{9D8B030D-6E8A-4147-A177-3AD203B41FA5}">
                      <a16:colId xmlns:a16="http://schemas.microsoft.com/office/drawing/2014/main" val="2207496752"/>
                    </a:ext>
                  </a:extLst>
                </a:gridCol>
              </a:tblGrid>
              <a:tr h="1247797">
                <a:tc>
                  <a:txBody>
                    <a:bodyPr/>
                    <a:lstStyle/>
                    <a:p>
                      <a:r>
                        <a:rPr lang="en-GB" dirty="0"/>
                        <a:t>Alpha particles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803562"/>
                  </a:ext>
                </a:extLst>
              </a:tr>
              <a:tr h="1247797">
                <a:tc>
                  <a:txBody>
                    <a:bodyPr/>
                    <a:lstStyle/>
                    <a:p>
                      <a:r>
                        <a:rPr lang="en-GB" dirty="0"/>
                        <a:t>Beta particles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535186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r>
                        <a:rPr lang="en-GB" dirty="0"/>
                        <a:t>Gamma 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91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600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9D74-2F1A-7B5D-984C-9F08694C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BF3F-1D5F-45AE-ECCE-02AEF8F7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32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FAF8D1-387C-AAFC-26E0-0A9434621F0D}"/>
              </a:ext>
            </a:extLst>
          </p:cNvPr>
          <p:cNvSpPr txBox="1">
            <a:spLocks/>
          </p:cNvSpPr>
          <p:nvPr/>
        </p:nvSpPr>
        <p:spPr>
          <a:xfrm>
            <a:off x="344117" y="4626327"/>
            <a:ext cx="6242950" cy="51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effects of the following types of radiation on the atomic and mass number of a nucleus: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Alpha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Beta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Gamma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Neutron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6EB848-C9A6-526A-EA19-7502E5E89F97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33303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a practical to investigate the penetration powers of different types of radiation using radioactive sources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666BF-0BD3-F419-EB0D-39517A8CF882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Radioactivity and particles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5738F1-A550-6028-DE5C-E6E0FDDA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34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319AD6-3D3F-1244-7F0A-045E16E18D2F}"/>
              </a:ext>
            </a:extLst>
          </p:cNvPr>
          <p:cNvSpPr txBox="1">
            <a:spLocks/>
          </p:cNvSpPr>
          <p:nvPr/>
        </p:nvSpPr>
        <p:spPr>
          <a:xfrm>
            <a:off x="344117" y="9963700"/>
            <a:ext cx="6242950" cy="1838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Give an example of a balanced nuclear equation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78870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6527-174C-FFFE-9D78-4FBF256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36A4-3EB5-B621-ED0E-8239A94F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33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F3456C-E397-E5D1-DF21-9360D6ADC9A3}"/>
              </a:ext>
            </a:extLst>
          </p:cNvPr>
          <p:cNvSpPr txBox="1">
            <a:spLocks/>
          </p:cNvSpPr>
          <p:nvPr/>
        </p:nvSpPr>
        <p:spPr>
          <a:xfrm>
            <a:off x="344117" y="3008485"/>
            <a:ext cx="6242950" cy="1959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sources of background radiation from earth and space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CA5327-DEC7-6ACA-9AB5-6B8E4646F5E1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1724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can be used to detect ionising radiation?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9E17B-3CD6-327A-7968-A0C71280731E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Radioactivity and particles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443DF-404E-13A6-6AAB-55AC6FA4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35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E58D52-8247-187C-1FFC-3BED50B48F6C}"/>
              </a:ext>
            </a:extLst>
          </p:cNvPr>
          <p:cNvSpPr txBox="1">
            <a:spLocks/>
          </p:cNvSpPr>
          <p:nvPr/>
        </p:nvSpPr>
        <p:spPr>
          <a:xfrm>
            <a:off x="344117" y="5157325"/>
            <a:ext cx="6242950" cy="1487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definition for half-life?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289C0F-BFDF-0F87-1C61-96D3EE4589A4}"/>
              </a:ext>
            </a:extLst>
          </p:cNvPr>
          <p:cNvSpPr txBox="1">
            <a:spLocks/>
          </p:cNvSpPr>
          <p:nvPr/>
        </p:nvSpPr>
        <p:spPr>
          <a:xfrm>
            <a:off x="344117" y="6741438"/>
            <a:ext cx="6242950" cy="29969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how radioactivity is used in industry and medicine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EFD437-7F3F-194F-8462-14D5FB063DB0}"/>
              </a:ext>
            </a:extLst>
          </p:cNvPr>
          <p:cNvSpPr txBox="1">
            <a:spLocks/>
          </p:cNvSpPr>
          <p:nvPr/>
        </p:nvSpPr>
        <p:spPr>
          <a:xfrm>
            <a:off x="344117" y="9889350"/>
            <a:ext cx="6242950" cy="17624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difference between contamination and irradiation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577001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FBC2-FE05-4296-D6E5-14FD9346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25A7-23F5-E624-C959-5492E468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34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7540F-1A9B-ECC6-5109-F99C491D8429}"/>
              </a:ext>
            </a:extLst>
          </p:cNvPr>
          <p:cNvSpPr txBox="1">
            <a:spLocks/>
          </p:cNvSpPr>
          <p:nvPr/>
        </p:nvSpPr>
        <p:spPr>
          <a:xfrm>
            <a:off x="325820" y="4257578"/>
            <a:ext cx="6242950" cy="2161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following terms:</a:t>
            </a:r>
          </a:p>
          <a:p>
            <a:pPr marL="0" indent="0">
              <a:buNone/>
            </a:pPr>
            <a:r>
              <a:rPr lang="en-GB" sz="1200" dirty="0" err="1"/>
              <a:t>Fision</a:t>
            </a: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Fusion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Radioactive decay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EA380-D24A-CA55-2DA6-67A334262E59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Radioactivity and particles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B1E4-924F-D0A9-D6BE-F19A1EA7D15D}"/>
              </a:ext>
            </a:extLst>
          </p:cNvPr>
          <p:cNvSpPr txBox="1">
            <a:spLocks/>
          </p:cNvSpPr>
          <p:nvPr/>
        </p:nvSpPr>
        <p:spPr>
          <a:xfrm>
            <a:off x="344117" y="6510405"/>
            <a:ext cx="6242950" cy="2472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how a nucleus of U-235 can be split and what happens as a result of this process.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D49B6-AEDB-9BF9-B85C-6B627B05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13B082-651C-56B5-75C8-98D8B3858F8D}"/>
              </a:ext>
            </a:extLst>
          </p:cNvPr>
          <p:cNvSpPr txBox="1"/>
          <p:nvPr/>
        </p:nvSpPr>
        <p:spPr>
          <a:xfrm>
            <a:off x="344117" y="1095020"/>
            <a:ext cx="6206357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Describe the dangers of ionising radiations on living organisms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0D1BC-E151-8F63-8FC8-910BEA10D60A}"/>
              </a:ext>
            </a:extLst>
          </p:cNvPr>
          <p:cNvSpPr txBox="1"/>
          <p:nvPr/>
        </p:nvSpPr>
        <p:spPr>
          <a:xfrm>
            <a:off x="325820" y="2565465"/>
            <a:ext cx="6206357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Describe how the risks arising from the disposal of radioactive waste can be reduced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AB39E9-FD19-D3C2-8FF8-B9BE3FA2CA09}"/>
              </a:ext>
            </a:extLst>
          </p:cNvPr>
          <p:cNvSpPr txBox="1">
            <a:spLocks/>
          </p:cNvSpPr>
          <p:nvPr/>
        </p:nvSpPr>
        <p:spPr>
          <a:xfrm>
            <a:off x="325820" y="9152506"/>
            <a:ext cx="6242950" cy="2472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can the above process result in a chain reaction?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306384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9864-305F-6DDA-3534-D79243B6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4C8B-5DF9-B19B-9708-F8ECAB07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35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4F3E21-7963-B2EB-9DCF-C29955707B12}"/>
              </a:ext>
            </a:extLst>
          </p:cNvPr>
          <p:cNvSpPr txBox="1">
            <a:spLocks/>
          </p:cNvSpPr>
          <p:nvPr/>
        </p:nvSpPr>
        <p:spPr>
          <a:xfrm>
            <a:off x="307524" y="2986076"/>
            <a:ext cx="6242950" cy="18126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Why is shielding around a nuclear reactor important?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E6F23-1D7D-8481-C555-570767672DFF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Radioactivity and particles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3199B-3F64-FA33-92D6-024399A1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37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47F19C-0195-7017-F6CF-1D3C4B451450}"/>
              </a:ext>
            </a:extLst>
          </p:cNvPr>
          <p:cNvSpPr txBox="1">
            <a:spLocks/>
          </p:cNvSpPr>
          <p:nvPr/>
        </p:nvSpPr>
        <p:spPr>
          <a:xfrm>
            <a:off x="307524" y="1020230"/>
            <a:ext cx="6242950" cy="18126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role played by control rods and moderator in the fission process</a:t>
            </a:r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C068E5-322F-EF63-FD93-9E76E2C9A5DD}"/>
              </a:ext>
            </a:extLst>
          </p:cNvPr>
          <p:cNvSpPr txBox="1">
            <a:spLocks/>
          </p:cNvSpPr>
          <p:nvPr/>
        </p:nvSpPr>
        <p:spPr>
          <a:xfrm>
            <a:off x="307524" y="4951922"/>
            <a:ext cx="6242950" cy="18126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why nuclear fusion does not happen at low temperature and pressure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75208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6B4A-53F0-F85B-A884-50CE3F0C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6B14-E06B-C736-7B76-A60C0881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36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680B40-2AAF-926C-7220-9DE22A109C19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38268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Complete the table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2D8A3-273E-982E-1D51-CA711BF9F53B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Astrophysics</a:t>
            </a:r>
            <a:endParaRPr lang="en-GB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52504-4705-5A23-9528-9B15B2BA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38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7B7307-F551-D68F-5097-6FFA56E2513E}"/>
              </a:ext>
            </a:extLst>
          </p:cNvPr>
          <p:cNvSpPr txBox="1">
            <a:spLocks/>
          </p:cNvSpPr>
          <p:nvPr/>
        </p:nvSpPr>
        <p:spPr>
          <a:xfrm>
            <a:off x="344117" y="5033175"/>
            <a:ext cx="6242950" cy="16220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Define the following:</a:t>
            </a:r>
          </a:p>
          <a:p>
            <a:pPr marL="0" indent="0">
              <a:buNone/>
            </a:pPr>
            <a:r>
              <a:rPr lang="en-GB" sz="1200" dirty="0"/>
              <a:t>Universe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Galaxy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3E83FC-B139-0064-E244-611CFDEEE763}"/>
              </a:ext>
            </a:extLst>
          </p:cNvPr>
          <p:cNvSpPr txBox="1">
            <a:spLocks/>
          </p:cNvSpPr>
          <p:nvPr/>
        </p:nvSpPr>
        <p:spPr>
          <a:xfrm>
            <a:off x="344117" y="6766560"/>
            <a:ext cx="6242950" cy="9423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Where is our solar system located?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  <a:p>
            <a:endParaRPr lang="en-GB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91AF14-6C2C-BB09-F659-1155C5923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598912"/>
              </p:ext>
            </p:extLst>
          </p:nvPr>
        </p:nvGraphicFramePr>
        <p:xfrm>
          <a:off x="757268" y="1459770"/>
          <a:ext cx="5343462" cy="32790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154">
                  <a:extLst>
                    <a:ext uri="{9D8B030D-6E8A-4147-A177-3AD203B41FA5}">
                      <a16:colId xmlns:a16="http://schemas.microsoft.com/office/drawing/2014/main" val="2190413106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4217906941"/>
                    </a:ext>
                  </a:extLst>
                </a:gridCol>
                <a:gridCol w="1781154">
                  <a:extLst>
                    <a:ext uri="{9D8B030D-6E8A-4147-A177-3AD203B41FA5}">
                      <a16:colId xmlns:a16="http://schemas.microsoft.com/office/drawing/2014/main" val="3951949512"/>
                    </a:ext>
                  </a:extLst>
                </a:gridCol>
              </a:tblGrid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 of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2512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296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Length/distance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87154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59350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29881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922322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35919"/>
                  </a:ext>
                </a:extLst>
              </a:tr>
              <a:tr h="396593">
                <a:tc>
                  <a:txBody>
                    <a:bodyPr/>
                    <a:lstStyle/>
                    <a:p>
                      <a:r>
                        <a:rPr lang="en-GB" dirty="0"/>
                        <a:t>Gravitational field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861843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125BAD-A138-D00A-070B-D279B97BD11C}"/>
              </a:ext>
            </a:extLst>
          </p:cNvPr>
          <p:cNvSpPr txBox="1">
            <a:spLocks/>
          </p:cNvSpPr>
          <p:nvPr/>
        </p:nvSpPr>
        <p:spPr>
          <a:xfrm>
            <a:off x="344117" y="7882474"/>
            <a:ext cx="6242950" cy="17338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Why does gravitational field strength vary?</a:t>
            </a:r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7AAEF1-A285-55BA-32B2-5CD6056B5D8B}"/>
              </a:ext>
            </a:extLst>
          </p:cNvPr>
          <p:cNvSpPr txBox="1">
            <a:spLocks/>
          </p:cNvSpPr>
          <p:nvPr/>
        </p:nvSpPr>
        <p:spPr>
          <a:xfrm>
            <a:off x="344117" y="9773088"/>
            <a:ext cx="6242950" cy="17338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Explain the effect of gravitational force on named satellites of the earth </a:t>
            </a:r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726154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4A99-0584-5EFD-7D90-64F3772F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DC5B-5CAB-414C-08F1-6756F4BB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37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B2CC03-C180-7F8E-34CF-84942914323F}"/>
              </a:ext>
            </a:extLst>
          </p:cNvPr>
          <p:cNvSpPr txBox="1">
            <a:spLocks/>
          </p:cNvSpPr>
          <p:nvPr/>
        </p:nvSpPr>
        <p:spPr>
          <a:xfrm>
            <a:off x="307524" y="1128886"/>
            <a:ext cx="6242950" cy="5251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differences in the orbits of comets. Moons and planets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37BBC-E7FB-38FE-A014-CE87792DE49D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Astrophysics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684E4D-4CC0-BD61-81EE-0431639F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39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4CE59-9A86-CFDF-2E76-BB6BF998E662}"/>
              </a:ext>
            </a:extLst>
          </p:cNvPr>
          <p:cNvSpPr txBox="1">
            <a:spLocks/>
          </p:cNvSpPr>
          <p:nvPr/>
        </p:nvSpPr>
        <p:spPr>
          <a:xfrm>
            <a:off x="307524" y="6595376"/>
            <a:ext cx="6242950" cy="2129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formula for orbital speed?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22CEAB-3F9A-4E34-CC10-66527C2BC31D}"/>
              </a:ext>
            </a:extLst>
          </p:cNvPr>
          <p:cNvSpPr txBox="1">
            <a:spLocks/>
          </p:cNvSpPr>
          <p:nvPr/>
        </p:nvSpPr>
        <p:spPr>
          <a:xfrm>
            <a:off x="307524" y="8939393"/>
            <a:ext cx="6242950" cy="2129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How can stars be classified?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1412767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199E0-0D35-F607-0CC0-A9551882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DDF5-C57E-574E-29CF-21736974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38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7E3279-18E3-8B35-C1BE-42929A8FD73D}"/>
              </a:ext>
            </a:extLst>
          </p:cNvPr>
          <p:cNvSpPr txBox="1">
            <a:spLocks/>
          </p:cNvSpPr>
          <p:nvPr/>
        </p:nvSpPr>
        <p:spPr>
          <a:xfrm>
            <a:off x="344117" y="2982385"/>
            <a:ext cx="6242950" cy="4123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evolution of stars with a similar mass to the sun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A6CC76-3C43-2390-30C1-822F9D5A2B3C}"/>
              </a:ext>
            </a:extLst>
          </p:cNvPr>
          <p:cNvSpPr txBox="1">
            <a:spLocks/>
          </p:cNvSpPr>
          <p:nvPr/>
        </p:nvSpPr>
        <p:spPr>
          <a:xfrm>
            <a:off x="344117" y="1095019"/>
            <a:ext cx="6242950" cy="17815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the colour of a star related to?</a:t>
            </a:r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4762BF-A4CD-A1D1-52B2-947D69290DED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Astrophysics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368EC-16EF-8BD6-E05D-0BE62281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40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9ABA6D-BFDE-25A1-C4AE-378CA406BB8D}"/>
              </a:ext>
            </a:extLst>
          </p:cNvPr>
          <p:cNvSpPr txBox="1">
            <a:spLocks/>
          </p:cNvSpPr>
          <p:nvPr/>
        </p:nvSpPr>
        <p:spPr>
          <a:xfrm>
            <a:off x="344117" y="7290857"/>
            <a:ext cx="6242950" cy="4501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evolution of stars with a greater mass to the sun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99743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5623-4153-7500-FE0B-2D9EADEE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B29A-3C1A-4699-62BE-5D5ECF7E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39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D65F56-7CC6-6E13-3216-EDD1C7C41A6C}"/>
              </a:ext>
            </a:extLst>
          </p:cNvPr>
          <p:cNvSpPr txBox="1">
            <a:spLocks/>
          </p:cNvSpPr>
          <p:nvPr/>
        </p:nvSpPr>
        <p:spPr>
          <a:xfrm>
            <a:off x="344117" y="2629060"/>
            <a:ext cx="6242950" cy="43813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Draw the main components of the Hertzsprung-Russel </a:t>
            </a:r>
            <a:r>
              <a:rPr lang="en-GB" sz="1200" dirty="0" err="1"/>
              <a:t>daigram</a:t>
            </a:r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051F6-9769-74C6-C1CE-A67201BA2246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14005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absolute magnitude?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8779A-448D-70D3-B13B-C4D95D103F62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Astrophysics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ADC11B-FBDB-A6D5-5EC9-2F646610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41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646521-1863-537C-920B-4112E7641B49}"/>
              </a:ext>
            </a:extLst>
          </p:cNvPr>
          <p:cNvSpPr txBox="1">
            <a:spLocks/>
          </p:cNvSpPr>
          <p:nvPr/>
        </p:nvSpPr>
        <p:spPr>
          <a:xfrm>
            <a:off x="344117" y="7143913"/>
            <a:ext cx="6242950" cy="4628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Big Bang theory</a:t>
            </a:r>
          </a:p>
        </p:txBody>
      </p:sp>
    </p:spTree>
    <p:extLst>
      <p:ext uri="{BB962C8B-B14F-4D97-AF65-F5344CB8AC3E}">
        <p14:creationId xmlns:p14="http://schemas.microsoft.com/office/powerpoint/2010/main" val="3694532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D005-68D0-F93E-8504-0375E85A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6BAA-772F-F17D-F869-AAF7CB9A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220134"/>
            <a:ext cx="5915025" cy="874886"/>
          </a:xfrm>
        </p:spPr>
        <p:txBody>
          <a:bodyPr>
            <a:normAutofit/>
          </a:bodyPr>
          <a:lstStyle/>
          <a:p>
            <a:r>
              <a:rPr lang="en-GB" sz="2000" b="1" dirty="0"/>
              <a:t>Task 40</a:t>
            </a:r>
            <a:br>
              <a:rPr lang="en-GB" sz="2000" dirty="0"/>
            </a:br>
            <a:r>
              <a:rPr lang="en-GB" sz="2000" dirty="0"/>
              <a:t>Complete by__________________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64967F-C7B2-367D-D0E4-DEA3873C8A7F}"/>
              </a:ext>
            </a:extLst>
          </p:cNvPr>
          <p:cNvSpPr txBox="1">
            <a:spLocks/>
          </p:cNvSpPr>
          <p:nvPr/>
        </p:nvSpPr>
        <p:spPr>
          <a:xfrm>
            <a:off x="344117" y="5469467"/>
            <a:ext cx="6242950" cy="19409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Show the formula that relates change in wavelength, reference wavelength, velocity of a galaxy and the speed of light</a:t>
            </a:r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E8D0D9-C160-6D53-93EE-F934016B0332}"/>
              </a:ext>
            </a:extLst>
          </p:cNvPr>
          <p:cNvSpPr txBox="1">
            <a:spLocks/>
          </p:cNvSpPr>
          <p:nvPr/>
        </p:nvSpPr>
        <p:spPr>
          <a:xfrm>
            <a:off x="344117" y="1095020"/>
            <a:ext cx="6242950" cy="4154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Describe the evidence that supports the Big Bang theory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4FE0C-8457-4F5E-202C-172703B89416}"/>
              </a:ext>
            </a:extLst>
          </p:cNvPr>
          <p:cNvSpPr txBox="1"/>
          <p:nvPr/>
        </p:nvSpPr>
        <p:spPr>
          <a:xfrm>
            <a:off x="4097867" y="186267"/>
            <a:ext cx="248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Astrophysics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48D806-B487-681D-593C-DB5516CB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CF34-61B1-4644-BC03-E5F327A2EF2F}" type="slidenum">
              <a:rPr lang="en-GB" smtClean="0"/>
              <a:t>42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514F48-C50D-9ABC-B3B3-3DF0341EF9B8}"/>
              </a:ext>
            </a:extLst>
          </p:cNvPr>
          <p:cNvSpPr txBox="1">
            <a:spLocks/>
          </p:cNvSpPr>
          <p:nvPr/>
        </p:nvSpPr>
        <p:spPr>
          <a:xfrm>
            <a:off x="344117" y="7630583"/>
            <a:ext cx="6242950" cy="40661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What is red shift and how does it provide evidence for the expansion of the universe?</a:t>
            </a:r>
          </a:p>
          <a:p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6317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1723</TotalTime>
  <Words>2539</Words>
  <Application>Microsoft Office PowerPoint</Application>
  <PresentationFormat>Widescreen</PresentationFormat>
  <Paragraphs>1397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Wingdings</vt:lpstr>
      <vt:lpstr>Office Theme</vt:lpstr>
      <vt:lpstr>IGCSE Physics Learning Log</vt:lpstr>
      <vt:lpstr>PowerPoint Presentation</vt:lpstr>
      <vt:lpstr>Task 1 Complete by__________________</vt:lpstr>
      <vt:lpstr>Task 2 Complete by__________________</vt:lpstr>
      <vt:lpstr>Task 3 Complete by__________________</vt:lpstr>
      <vt:lpstr>Task 4 Complete by__________________</vt:lpstr>
      <vt:lpstr>Task 5 Complete by__________________</vt:lpstr>
      <vt:lpstr>Task 6 Complete by__________________</vt:lpstr>
      <vt:lpstr>Task 7 Complete by__________________</vt:lpstr>
      <vt:lpstr>Task 8 Complete by__________________</vt:lpstr>
      <vt:lpstr>Task 9 Complete by__________________</vt:lpstr>
      <vt:lpstr>Task 10 Complete by__________________</vt:lpstr>
      <vt:lpstr>Task 11 Complete by__________________</vt:lpstr>
      <vt:lpstr>Task 12 Complete by__________________</vt:lpstr>
      <vt:lpstr>Task 13 Complete by__________________</vt:lpstr>
      <vt:lpstr>Task 14 Complete by__________________</vt:lpstr>
      <vt:lpstr>Task 15 Complete by__________________</vt:lpstr>
      <vt:lpstr>Task 16 Complete by__________________</vt:lpstr>
      <vt:lpstr>Task 17 Complete by__________________</vt:lpstr>
      <vt:lpstr>Task 18 Complete by__________________</vt:lpstr>
      <vt:lpstr>Task 19 Complete by__________________</vt:lpstr>
      <vt:lpstr>Task 20 Complete by__________________</vt:lpstr>
      <vt:lpstr>Task 21 Complete by__________________</vt:lpstr>
      <vt:lpstr>Task 22 Complete by__________________</vt:lpstr>
      <vt:lpstr>Task 23 Complete by__________________</vt:lpstr>
      <vt:lpstr>Task 24 Complete by__________________</vt:lpstr>
      <vt:lpstr>Task 25 Complete by__________________</vt:lpstr>
      <vt:lpstr>Task 26 Complete by__________________</vt:lpstr>
      <vt:lpstr>Task 27 Complete by__________________</vt:lpstr>
      <vt:lpstr>Task 28 Complete by__________________</vt:lpstr>
      <vt:lpstr>Task 29 Complete by__________________</vt:lpstr>
      <vt:lpstr>Task 30 Complete by__________________</vt:lpstr>
      <vt:lpstr>Task 31 Complete by__________________</vt:lpstr>
      <vt:lpstr>Task 32 Complete by__________________</vt:lpstr>
      <vt:lpstr>Task 33 Complete by__________________</vt:lpstr>
      <vt:lpstr>Task 34 Complete by__________________</vt:lpstr>
      <vt:lpstr>Task 35 Complete by__________________</vt:lpstr>
      <vt:lpstr>Task 36 Complete by__________________</vt:lpstr>
      <vt:lpstr>Task 37 Complete by__________________</vt:lpstr>
      <vt:lpstr>Task 38 Complete by__________________</vt:lpstr>
      <vt:lpstr>Task 39 Complete by__________________</vt:lpstr>
      <vt:lpstr>Task 40 Complete by__________________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Barnes</dc:creator>
  <cp:lastModifiedBy>Martin  Devautour</cp:lastModifiedBy>
  <cp:revision>86</cp:revision>
  <cp:lastPrinted>2025-04-03T10:13:52Z</cp:lastPrinted>
  <dcterms:created xsi:type="dcterms:W3CDTF">2025-02-24T12:55:47Z</dcterms:created>
  <dcterms:modified xsi:type="dcterms:W3CDTF">2026-08-05T20:28:52Z</dcterms:modified>
</cp:coreProperties>
</file>